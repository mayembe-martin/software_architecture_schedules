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4"/>
  </p:notesMasterIdLst>
  <p:sldIdLst>
    <p:sldId id="256" r:id="rId2"/>
    <p:sldId id="279" r:id="rId3"/>
    <p:sldId id="280" r:id="rId4"/>
    <p:sldId id="260" r:id="rId5"/>
    <p:sldId id="261" r:id="rId6"/>
    <p:sldId id="257" r:id="rId7"/>
    <p:sldId id="287" r:id="rId8"/>
    <p:sldId id="262" r:id="rId9"/>
    <p:sldId id="277" r:id="rId10"/>
    <p:sldId id="263" r:id="rId11"/>
    <p:sldId id="281" r:id="rId12"/>
    <p:sldId id="282" r:id="rId13"/>
    <p:sldId id="283" r:id="rId14"/>
    <p:sldId id="284" r:id="rId15"/>
    <p:sldId id="285" r:id="rId16"/>
    <p:sldId id="259" r:id="rId17"/>
    <p:sldId id="286" r:id="rId18"/>
    <p:sldId id="275" r:id="rId19"/>
    <p:sldId id="272" r:id="rId20"/>
    <p:sldId id="273" r:id="rId21"/>
    <p:sldId id="274" r:id="rId22"/>
    <p:sldId id="276"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14" dt="2026-01-07T19:41:29.7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94699"/>
  </p:normalViewPr>
  <p:slideViewPr>
    <p:cSldViewPr snapToGrid="0">
      <p:cViewPr varScale="1">
        <p:scale>
          <a:sx n="78" d="100"/>
          <a:sy n="78" d="100"/>
        </p:scale>
        <p:origin x="773"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sldOrd">
      <pc:chgData name="Iker Joaquín" userId="acaffbe4a706a9d4" providerId="LiveId" clId="{D1DFD0CF-3B6A-4A93-9F8B-FF939B2F1C04}" dt="2026-01-07T19:41:29.770" v="2000"/>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ldChg>
      <pc:sldChg chg="addSp delSp modSp new mod setBg">
        <pc:chgData name="Iker Joaquín" userId="acaffbe4a706a9d4" providerId="LiveId" clId="{D1DFD0CF-3B6A-4A93-9F8B-FF939B2F1C04}" dt="2026-01-07T19:41:29.770" v="2000"/>
        <pc:sldMkLst>
          <pc:docMk/>
          <pc:sldMk cId="648425079" sldId="257"/>
        </pc:sldMkLst>
        <pc:spChg chg="mod">
          <ac:chgData name="Iker Joaquín" userId="acaffbe4a706a9d4" providerId="LiveId" clId="{D1DFD0CF-3B6A-4A93-9F8B-FF939B2F1C04}" dt="2026-01-07T19:41:29.770" v="2000"/>
          <ac:spMkLst>
            <pc:docMk/>
            <pc:sldMk cId="648425079" sldId="257"/>
            <ac:spMk id="2" creationId="{70D810E6-D634-5775-23EC-7C1CD5F9B4BC}"/>
          </ac:spMkLst>
        </pc:spChg>
        <pc:spChg chg="mod">
          <ac:chgData name="Iker Joaquín" userId="acaffbe4a706a9d4" providerId="LiveId" clId="{D1DFD0CF-3B6A-4A93-9F8B-FF939B2F1C04}" dt="2026-01-07T19:32:01.744" v="1950" actId="27636"/>
          <ac:spMkLst>
            <pc:docMk/>
            <pc:sldMk cId="648425079" sldId="257"/>
            <ac:spMk id="3" creationId="{61F5AB5F-386D-CE95-CCBF-2F74C67C4105}"/>
          </ac:spMkLst>
        </pc:spChg>
        <pc:picChg chg="add mod">
          <ac:chgData name="Iker Joaquín" userId="acaffbe4a706a9d4" providerId="LiveId" clId="{D1DFD0CF-3B6A-4A93-9F8B-FF939B2F1C04}" dt="2026-01-07T19:31:19.658" v="1931" actId="14100"/>
          <ac:picMkLst>
            <pc:docMk/>
            <pc:sldMk cId="648425079" sldId="257"/>
            <ac:picMk id="5" creationId="{FBE88C5A-76C0-CA70-1F19-B652A1D7B555}"/>
          </ac:picMkLst>
        </pc:picChg>
        <pc:picChg chg="add">
          <ac:chgData name="Iker Joaquín" userId="acaffbe4a706a9d4" providerId="LiveId" clId="{D1DFD0CF-3B6A-4A93-9F8B-FF939B2F1C04}" dt="2026-01-07T19:31:15.484" v="1929" actId="26606"/>
          <ac:picMkLst>
            <pc:docMk/>
            <pc:sldMk cId="648425079" sldId="257"/>
            <ac:picMk id="10" creationId="{7724A564-BE2C-4188-AA55-E1F8840FFB13}"/>
          </ac:picMkLst>
        </pc:pic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7T19:31:27.754" v="1932" actId="26606"/>
        <pc:sldMkLst>
          <pc:docMk/>
          <pc:sldMk cId="1693471688" sldId="260"/>
        </pc:sldMkLst>
        <pc:spChg chg="mod">
          <ac:chgData name="Iker Joaquín" userId="acaffbe4a706a9d4" providerId="LiveId" clId="{D1DFD0CF-3B6A-4A93-9F8B-FF939B2F1C04}" dt="2026-01-07T19:31:27.754" v="1932" actId="26606"/>
          <ac:spMkLst>
            <pc:docMk/>
            <pc:sldMk cId="1693471688" sldId="260"/>
            <ac:spMk id="2" creationId="{4244D783-E63C-0F9B-BE3D-8C8414FFF3B7}"/>
          </ac:spMkLst>
        </pc:spChg>
        <pc:spChg chg="add del mod">
          <ac:chgData name="Iker Joaquín" userId="acaffbe4a706a9d4" providerId="LiveId" clId="{D1DFD0CF-3B6A-4A93-9F8B-FF939B2F1C04}" dt="2026-01-07T19:31:27.754" v="1932" actId="26606"/>
          <ac:spMkLst>
            <pc:docMk/>
            <pc:sldMk cId="1693471688" sldId="260"/>
            <ac:spMk id="3" creationId="{ADEC5E53-9844-16DF-46F8-30A6E8DD1804}"/>
          </ac:spMkLst>
        </pc:spChg>
        <pc:picChg chg="add del mod">
          <ac:chgData name="Iker Joaquín" userId="acaffbe4a706a9d4" providerId="LiveId" clId="{D1DFD0CF-3B6A-4A93-9F8B-FF939B2F1C04}" dt="2026-01-07T19:29:50.463" v="1899" actId="22"/>
          <ac:picMkLst>
            <pc:docMk/>
            <pc:sldMk cId="1693471688" sldId="260"/>
            <ac:picMk id="5" creationId="{56050FE1-5576-593A-9DC5-7FCADD4A82F8}"/>
          </ac:picMkLst>
        </pc:picChg>
        <pc:picChg chg="add mod">
          <ac:chgData name="Iker Joaquín" userId="acaffbe4a706a9d4" providerId="LiveId" clId="{D1DFD0CF-3B6A-4A93-9F8B-FF939B2F1C04}" dt="2026-01-07T19:31:27.754" v="1932" actId="26606"/>
          <ac:picMkLst>
            <pc:docMk/>
            <pc:sldMk cId="1693471688" sldId="260"/>
            <ac:picMk id="6" creationId="{5AF782F3-3471-5D94-42D3-EB82D0872B8A}"/>
          </ac:picMkLst>
        </pc:picChg>
        <pc:picChg chg="add del mod">
          <ac:chgData name="Iker Joaquín" userId="acaffbe4a706a9d4" providerId="LiveId" clId="{D1DFD0CF-3B6A-4A93-9F8B-FF939B2F1C04}" dt="2026-01-07T19:29:08.417" v="1882" actId="478"/>
          <ac:picMkLst>
            <pc:docMk/>
            <pc:sldMk cId="1693471688" sldId="260"/>
            <ac:picMk id="8" creationId="{C08C081E-6687-7FC9-07B6-5A19C24E4E5A}"/>
          </ac:picMkLst>
        </pc:picChg>
        <pc:picChg chg="add">
          <ac:chgData name="Iker Joaquín" userId="acaffbe4a706a9d4" providerId="LiveId" clId="{D1DFD0CF-3B6A-4A93-9F8B-FF939B2F1C04}" dt="2026-01-07T19:31:27.754" v="1932" actId="26606"/>
          <ac:picMkLst>
            <pc:docMk/>
            <pc:sldMk cId="1693471688" sldId="260"/>
            <ac:picMk id="11" creationId="{7724A564-BE2C-4188-AA55-E1F8840FFB13}"/>
          </ac:picMkLst>
        </pc:picChg>
      </pc:sldChg>
      <pc:sldChg chg="addSp delSp modSp add mod setBg delDesignElem">
        <pc:chgData name="Iker Joaquín" userId="acaffbe4a706a9d4" providerId="LiveId" clId="{D1DFD0CF-3B6A-4A93-9F8B-FF939B2F1C04}" dt="2026-01-07T19:31:38.055" v="1946" actId="20577"/>
        <pc:sldMkLst>
          <pc:docMk/>
          <pc:sldMk cId="421348256" sldId="261"/>
        </pc:sldMkLst>
        <pc:spChg chg="mod">
          <ac:chgData name="Iker Joaquín" userId="acaffbe4a706a9d4" providerId="LiveId" clId="{D1DFD0CF-3B6A-4A93-9F8B-FF939B2F1C04}" dt="2026-01-07T19:31:38.055" v="1946" actId="20577"/>
          <ac:spMkLst>
            <pc:docMk/>
            <pc:sldMk cId="421348256" sldId="261"/>
            <ac:spMk id="2" creationId="{68735FA2-12C4-F31F-0C81-B341109AEFAC}"/>
          </ac:spMkLst>
        </pc:spChg>
        <pc:spChg chg="mod">
          <ac:chgData name="Iker Joaquín" userId="acaffbe4a706a9d4" providerId="LiveId" clId="{D1DFD0CF-3B6A-4A93-9F8B-FF939B2F1C04}" dt="2026-01-07T19:30:58.747" v="1925" actId="26606"/>
          <ac:spMkLst>
            <pc:docMk/>
            <pc:sldMk cId="421348256" sldId="261"/>
            <ac:spMk id="3" creationId="{98E6E1CF-5DBB-B309-6D09-BE14D4EBA029}"/>
          </ac:spMkLst>
        </pc:spChg>
        <pc:picChg chg="add del mod">
          <ac:chgData name="Iker Joaquín" userId="acaffbe4a706a9d4" providerId="LiveId" clId="{D1DFD0CF-3B6A-4A93-9F8B-FF939B2F1C04}" dt="2026-01-07T19:30:33.414" v="1920" actId="478"/>
          <ac:picMkLst>
            <pc:docMk/>
            <pc:sldMk cId="421348256" sldId="261"/>
            <ac:picMk id="5" creationId="{11284E59-AD43-F674-F05D-545433E2CCA9}"/>
          </ac:picMkLst>
        </pc:picChg>
        <pc:picChg chg="add mod">
          <ac:chgData name="Iker Joaquín" userId="acaffbe4a706a9d4" providerId="LiveId" clId="{D1DFD0CF-3B6A-4A93-9F8B-FF939B2F1C04}" dt="2026-01-07T19:31:11.164" v="1928" actId="1076"/>
          <ac:picMkLst>
            <pc:docMk/>
            <pc:sldMk cId="421348256" sldId="261"/>
            <ac:picMk id="6" creationId="{BAC98227-B575-4827-3DC5-DEDE27122F89}"/>
          </ac:picMkLst>
        </pc:picChg>
        <pc:picChg chg="add">
          <ac:chgData name="Iker Joaquín" userId="acaffbe4a706a9d4" providerId="LiveId" clId="{D1DFD0CF-3B6A-4A93-9F8B-FF939B2F1C04}" dt="2026-01-07T19:30:58.747" v="1925" actId="26606"/>
          <ac:picMkLst>
            <pc:docMk/>
            <pc:sldMk cId="421348256" sldId="261"/>
            <ac:picMk id="11" creationId="{7724A564-BE2C-4188-AA55-E1F8840FFB13}"/>
          </ac:picMkLst>
        </pc:picChg>
      </pc:sldChg>
      <pc:sldChg chg="addSp delSp modSp add mod ord">
        <pc:chgData name="Iker Joaquín" userId="acaffbe4a706a9d4" providerId="LiveId" clId="{D1DFD0CF-3B6A-4A93-9F8B-FF939B2F1C04}" dt="2026-01-07T19:41:14.485" v="1994" actId="20577"/>
        <pc:sldMkLst>
          <pc:docMk/>
          <pc:sldMk cId="2126189352" sldId="287"/>
        </pc:sldMkLst>
        <pc:spChg chg="mod">
          <ac:chgData name="Iker Joaquín" userId="acaffbe4a706a9d4" providerId="LiveId" clId="{D1DFD0CF-3B6A-4A93-9F8B-FF939B2F1C04}" dt="2026-01-07T19:41:14.485" v="1994" actId="20577"/>
          <ac:spMkLst>
            <pc:docMk/>
            <pc:sldMk cId="2126189352" sldId="287"/>
            <ac:spMk id="2" creationId="{0B8CB2DA-4B2A-5908-5F1A-36A6E4A2E1E7}"/>
          </ac:spMkLst>
        </pc:spChg>
        <pc:spChg chg="mod">
          <ac:chgData name="Iker Joaquín" userId="acaffbe4a706a9d4" providerId="LiveId" clId="{D1DFD0CF-3B6A-4A93-9F8B-FF939B2F1C04}" dt="2026-01-07T19:40:56.566" v="1977" actId="26606"/>
          <ac:spMkLst>
            <pc:docMk/>
            <pc:sldMk cId="2126189352" sldId="287"/>
            <ac:spMk id="3" creationId="{A7ECEE4E-23E6-276A-0CC1-FC0D138581F2}"/>
          </ac:spMkLst>
        </pc:spChg>
        <pc:picChg chg="add mod">
          <ac:chgData name="Iker Joaquín" userId="acaffbe4a706a9d4" providerId="LiveId" clId="{D1DFD0CF-3B6A-4A93-9F8B-FF939B2F1C04}" dt="2026-01-07T19:41:07.456" v="1981" actId="14100"/>
          <ac:picMkLst>
            <pc:docMk/>
            <pc:sldMk cId="2126189352" sldId="287"/>
            <ac:picMk id="5" creationId="{E95A1131-E749-8097-57E0-C56AA78B70C7}"/>
          </ac:picMkLst>
        </pc:picChg>
        <pc:picChg chg="del">
          <ac:chgData name="Iker Joaquín" userId="acaffbe4a706a9d4" providerId="LiveId" clId="{D1DFD0CF-3B6A-4A93-9F8B-FF939B2F1C04}" dt="2026-01-07T19:40:52.209" v="1973" actId="478"/>
          <ac:picMkLst>
            <pc:docMk/>
            <pc:sldMk cId="2126189352" sldId="287"/>
            <ac:picMk id="6" creationId="{4017AD12-BF33-F27D-6A2A-89E15E0DBECA}"/>
          </ac:picMkLst>
        </pc:picChg>
        <pc:picChg chg="del">
          <ac:chgData name="Iker Joaquín" userId="acaffbe4a706a9d4" providerId="LiveId" clId="{D1DFD0CF-3B6A-4A93-9F8B-FF939B2F1C04}" dt="2026-01-07T19:40:56.566" v="1977" actId="26606"/>
          <ac:picMkLst>
            <pc:docMk/>
            <pc:sldMk cId="2126189352" sldId="287"/>
            <ac:picMk id="11" creationId="{DCE49F08-F3F1-37F7-325D-7AD5D539A3E0}"/>
          </ac:picMkLst>
        </pc:picChg>
        <pc:picChg chg="add">
          <ac:chgData name="Iker Joaquín" userId="acaffbe4a706a9d4" providerId="LiveId" clId="{D1DFD0CF-3B6A-4A93-9F8B-FF939B2F1C04}" dt="2026-01-07T19:40:56.566" v="1977" actId="26606"/>
          <ac:picMkLst>
            <pc:docMk/>
            <pc:sldMk cId="2126189352" sldId="287"/>
            <ac:picMk id="16" creationId="{7724A564-BE2C-4188-AA55-E1F8840FFB13}"/>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4:14.386"/>
    </inkml:context>
    <inkml:brush xml:id="br0">
      <inkml:brushProperty name="width" value="0.1" units="cm"/>
      <inkml:brushProperty name="height" value="0.1" units="cm"/>
      <inkml:brushProperty name="color" value="#E71224"/>
    </inkml:brush>
  </inkml:definitions>
  <inkml:trace contextRef="#ctx0" brushRef="#br0">354 54 24575,'702'-21'0,"344"-12"0,255 34 0,-1270-1 0,-1 2 0,0 2 0,0 0 0,0 2 0,0 1 0,-1 2 0,0 1 0,-1 1 0,0 1 0,0 1 0,39 27 0,-67-40 0,37 25 0,41 33 0,-68-49 0,1 1 0,-1 0 0,-1 1 0,0 0 0,-1 0 0,0 1 0,0 0 0,5 14 0,47 146 0,-21-53 0,-29-96 0,2 1 0,0-1 0,26 35 0,1 0 0,15 20 0,-43-64 0,0 0 0,-1 1 0,0 0 0,-1 1 0,-1 0 0,0 0 0,-1 1 0,8 29 0,-2 55 0,-11-67 0,14 60 0,-5-45 0,-2 0 0,5 96 0,-16 102 0,-1-92 0,5-1 0,-4 167 0,1-309 0,0 0 0,-1 0 0,0-1 0,-1 1 0,0-1 0,0 0 0,-2 0 0,1 0 0,-1 0 0,-12 17 0,5-11 0,-1-1 0,-1-1 0,0 0 0,-2-1 0,-20 16 0,-45 39 0,48-39 0,-58 40 0,78-62 0,-1 0 0,0-1 0,0 0 0,0-1 0,-1-1 0,0 0 0,0-1 0,-21 3 0,-44 0 0,-145-8 0,103-2 0,-603 2 0,705 0 0,1 0 0,-1-2 0,1 0 0,-38-12 0,-72-34 0,-15-6 0,-117-3 0,109 28 0,112 24 0,0-1 0,-77-25 0,27-3 0,-1 5 0,-1 4 0,-188-28 0,257 52 0,1 0 0,0-2 0,1-1 0,-1 0 0,1-1 0,0-2 0,0 0 0,-36-20 0,30 10 0,-1 1 0,-1 2 0,0 1 0,-1 1 0,0 2 0,-39-10 0,40 15 0,-1-2 0,1-1 0,0-2 0,1 0 0,0-2 0,1-1 0,0-2 0,1 0 0,-32-27 0,17 8 0,-44-48 0,68 64 0,1-1 0,1 0 0,1-1 0,-21-43 0,-37-104 0,62 137 0,1 0 0,1 0 0,-6-53 0,9 45 0,-17-57 0,13 61 0,1 1 0,-3-51 0,8-328 0,5 207 0,-2 173 0,2 0 0,1-1 0,10-49 0,-9 68 0,1 0 0,0-1 0,1 2 0,0-1 0,2 1 0,-1 0 0,2 0 0,0 1 0,15-17 0,-16 19-114,2 1 1,-1 0-1,1 0 0,1 1 0,-1 0 1,2 1-1,-1 1 0,1-1 0,0 2 1,1 0-1,13-5 0,6 3-6712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08.672"/>
    </inkml:context>
    <inkml:brush xml:id="br0">
      <inkml:brushProperty name="width" value="0.1" units="cm"/>
      <inkml:brushProperty name="height" value="0.1" units="cm"/>
      <inkml:brushProperty name="color" value="#E71224"/>
    </inkml:brush>
  </inkml:definitions>
  <inkml:trace contextRef="#ctx0" brushRef="#br0">57 0 24575,'9'5'0,"0"0"0,0 0 0,1-1 0,0-1 0,-1 1 0,14 1 0,8 4 0,62 17 0,2-3 0,1-4 0,0-5 0,1-4 0,141-3 0,1015-13 0,-705 8 0,-447 0 0,116-5 0,-179-2 0,48-14 0,31-4 0,286 15 0,-234 11 0,-149-3 0,-1 0 0,1 1 0,0 1 0,-1 1 0,20 6 0,-32-6 0,1-1 0,-1 1 0,0 1 0,0-1 0,-1 1 0,1 1 0,-1-1 0,0 1 0,0 0 0,0 0 0,-1 1 0,1 0 0,-1 0 0,-1 0 0,7 11 0,-2 3 0,0 0 0,-1 0 0,-2 1 0,8 35 0,-4-14 0,0 1 0,-2 0 0,4 87 0,-13 89 0,-2-86 0,4 40 0,-3 163 0,1-318 0,-1-1 0,-1 1 0,-1-1 0,0 0 0,-8 18 0,-38 77 0,32-77 0,-4 15 0,-18 63 0,-16 37 0,27-82 0,15-35 0,-29 54 0,33-68 0,0 1 0,-9 29 0,15-37 0,0 1 0,-1-1 0,0 1 0,-1-1 0,-1-1 0,0 1 0,0-1 0,-1-1 0,-17 19 0,2-10 0,-1-1 0,0-1 0,-2-1 0,0-1 0,0-1 0,-2-2 0,1-1 0,-1-1 0,-1-1 0,0-1 0,0-2 0,-1-1 0,-31 1 0,-326-5 0,166-4 0,111 5 0,-129-5 0,186-6 0,-96-27 0,123 28 0,-99-31 0,79 22 0,-1 2 0,0 3 0,-78-11 0,77 17 0,-58-15 0,65 11 0,0 2 0,-63-4 0,-125 13 0,213-3 0,0 0 0,0 0 0,0-2 0,0 0 0,1 0 0,0-2 0,-17-7 0,-37-13 0,28 14 0,-1 1 0,-1 2 0,0 2 0,-50-1 0,-55-5 0,-9 1 0,72 13 0,44 1 0,-69-7 0,106 5 0,1-1 0,-1 0 0,1 1 0,0-2 0,-1 1 0,1 0 0,0-1 0,0 1 0,0-1 0,0 0 0,0 0 0,0 0 0,0-1 0,1 1 0,-1-1 0,1 1 0,0-1 0,-1 0 0,1 0 0,1 0 0,-1 0 0,0 0 0,1 0 0,-1-1 0,1 1 0,0 0 0,-1-7 0,-1-7 0,1-1 0,1 1 0,0-1 0,3-25 0,-2 25 0,7-585 0,-7 496 0,-2 80 0,-1-1 0,-1 1 0,-13-44 0,-6-39 0,0-141 0,12-164-149,12 295-1067,-1 76-5610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0.516"/>
    </inkml:context>
    <inkml:brush xml:id="br0">
      <inkml:brushProperty name="width" value="0.1" units="cm"/>
      <inkml:brushProperty name="height" value="0.1" units="cm"/>
      <inkml:brushProperty name="color" value="#E71224"/>
    </inkml:brush>
  </inkml:definitions>
  <inkml:trace contextRef="#ctx0" brushRef="#br0">1 0 24575,'0'5'0,"0"10"0,0 7 0,0 10 0,0 3 0,0-4-8191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3.404"/>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31.245"/>
    </inkml:context>
    <inkml:brush xml:id="br0">
      <inkml:brushProperty name="width" value="0.1" units="cm"/>
      <inkml:brushProperty name="height" value="0.1" units="cm"/>
      <inkml:brushProperty name="color" value="#E71224"/>
    </inkml:brush>
  </inkml:definitions>
  <inkml:trace contextRef="#ctx0" brushRef="#br0">122 0 24575,'2'140'0,"-5"145"0,0-260 0,-1 0 0,-2-1 0,0 1 0,-1-1 0,-19 40 0,12-32 0,-17 67 0,16-28-1365,7-44-5461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1.447"/>
    </inkml:context>
    <inkml:brush xml:id="br0">
      <inkml:brushProperty name="width" value="0.1" units="cm"/>
      <inkml:brushProperty name="height" value="0.1" units="cm"/>
      <inkml:brushProperty name="color" value="#E71224"/>
    </inkml:brush>
  </inkml:definitions>
  <inkml:trace contextRef="#ctx0" brushRef="#br0">3650 0 24575,'-7'1'0,"0"0"0,0 0 0,0 1 0,0 0 0,0 0 0,0 1 0,1 0 0,-1 0 0,1 0 0,0 1 0,-10 8 0,-4 4 0,-35 35 0,48-43 0,0-1 0,0 0 0,-1 0 0,0 0 0,0-1 0,-1 0 0,1 0 0,-1-1 0,-1 0 0,1-1 0,-1 0 0,0-1 0,-16 4 0,-7 0 0,0 0 0,1 2 0,0 1 0,-50 25 0,27 0 0,46-27 0,-1-1 0,0 0 0,0-1 0,-1 0 0,-19 7 0,-16-1 0,-53 7 0,32-7 0,51-8 0,-1 1 0,-16 8 0,-34 9 0,26-14 0,1 1 0,0 2 0,-75 33 0,66-20 0,-49 23 0,66-34 0,13-5 0,0 0 0,-1-2 0,-24 6 0,16-8 0,19-4 0,0 1 0,1 1 0,-1-1 0,0 1 0,1 1 0,0 0 0,-1 0 0,1 0 0,0 1 0,0 0 0,-10 8 0,0 5 0,0-1 0,-1-2 0,0 0 0,-1 0 0,-1-2 0,0-1 0,0 0 0,-1-2 0,-1 0 0,1-2 0,-1 0 0,-1-2 0,-45 6 0,46-8 0,0 1 0,0 1 0,0 1 0,1 1 0,-39 18 0,51-21 0,-13 4 0,0-2 0,0 0 0,-46 4 0,37-5 0,-45 11 0,-7 3 0,-16 4 0,89-19 0,0 0 0,0 0 0,0 1 0,1 1 0,0 0 0,-14 10 0,-139 94 0,83-60 0,57-37 0,-1-1 0,0-2 0,-1 0 0,0-1 0,-34 6 0,-50 19 0,44-16 0,55-17 0,0 1 0,0 1 0,0 0 0,0 0 0,0 1 0,1 0 0,0 0 0,0 1 0,-17 12 0,-81 65 110,71-56-848,-42 38 1,53-39-6089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9.462"/>
    </inkml:context>
    <inkml:brush xml:id="br0">
      <inkml:brushProperty name="width" value="0.1" units="cm"/>
      <inkml:brushProperty name="height" value="0.1" units="cm"/>
      <inkml:brushProperty name="color" value="#E71224"/>
    </inkml:brush>
  </inkml:definitions>
  <inkml:trace contextRef="#ctx0" brushRef="#br0">1682 5 24575,'12'0'0,"0"1"0,0 1 0,0 0 0,0 0 0,-1 2 0,1-1 0,-1 1 0,16 8 0,-2 1 0,-1 2 0,34 26 0,-32-24 0,38 20 0,-39-24 0,-1 1 0,31 25 0,-45-32 0,-1 1 0,0 0 0,-1 1 0,0 0 0,0 0 0,-1 0 0,0 1 0,0 0 0,-1 1 0,-1 0 0,0-1 0,0 2 0,-1-1 0,5 21 0,1 22 0,-6-30 0,1-1 0,12 36 0,-9-36 0,-2-1 0,0 1 0,-1 0 0,2 47 0,-7 95 0,-2-88 0,2-62 0,0 0 0,-2 0 0,0-1 0,-7 26 0,7-33 0,0 0 0,-1-1 0,0 0 0,0 0 0,0 0 0,-1 0 0,0 0 0,-1-1 0,1 0 0,-1 0 0,0 0 0,-8 7 0,-2 0 0,1 1 0,-18 21 0,19-19 0,-1 0 0,-21 16 0,-98 64 0,102-74 0,-1-1 0,-2-1 0,-42 17 0,58-30 0,0-1 0,0-1 0,0 0 0,0-2 0,-21 1 0,-96-5 0,58 0 0,-969 1 0,1034 1 0,-1 0 0,0-1 0,0-1 0,1 0 0,-1 0 0,1-1 0,-1-1 0,1 0 0,0-1 0,0 0 0,1-1 0,0 0 0,0 0 0,0-2 0,1 1 0,0-1 0,0-1 0,1 0 0,0 0 0,1-1 0,-14-20 0,0-9 0,3-2 0,1 0 0,2-2 0,1 1 0,-15-86 0,23 76 0,3-1 0,2 1 0,6-58 0,-2 9 0,-3 33 0,1-49 0,1 103 0,1-1 0,0 1 0,1 0 0,0-1 0,10-21 0,-11 30 0,1 1 0,0 0 0,0 0 0,1 1 0,-1-1 0,1 1 0,0 0 0,0-1 0,1 2 0,-1-1 0,1 0 0,8-4 0,5-1 0,1 0 0,23-8 0,-10 5 0,155-81 0,-155 77 0,0 1 0,1 3 0,42-12 0,6-2 0,-50 16 0,0 2 0,0 1 0,1 2 0,51-3 0,134 9 0,-91 3 0,143-4-1365,-230 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6:19.687"/>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07/01/2026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‹Nº›</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4</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07/01/2026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36040050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07/01/2026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24022824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3C2F7B-537C-4500-BF1F-DDEBE70AF5A2}" type="datetimeFigureOut">
              <a:rPr lang="es-ES" smtClean="0"/>
              <a:t>07/01/2026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7208166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3C2F7B-537C-4500-BF1F-DDEBE70AF5A2}" type="datetimeFigureOut">
              <a:rPr lang="es-ES" smtClean="0"/>
              <a:t>07/01/2026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3142599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3C2F7B-537C-4500-BF1F-DDEBE70AF5A2}" type="datetimeFigureOut">
              <a:rPr lang="es-ES" smtClean="0"/>
              <a:t>07/01/2026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22337192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3C2F7B-537C-4500-BF1F-DDEBE70AF5A2}" type="datetimeFigureOut">
              <a:rPr lang="es-ES" smtClean="0"/>
              <a:t>07/01/2026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1951453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3C2F7B-537C-4500-BF1F-DDEBE70AF5A2}" type="datetimeFigureOut">
              <a:rPr lang="es-ES" smtClean="0"/>
              <a:t>07/01/2026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1513236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07/01/2026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4261320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07/01/2026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1200505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07/01/2026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11128115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07/01/2026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1861044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07/01/2026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‹Nº›</a:t>
            </a:fld>
            <a:endParaRPr lang="es-E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1754938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07/01/2026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4185038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07/01/2026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21523719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07/01/2026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39411691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07/01/2026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3783147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07/01/2026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1951028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6A3C2F7B-537C-4500-BF1F-DDEBE70AF5A2}" type="datetimeFigureOut">
              <a:rPr lang="es-ES" smtClean="0"/>
              <a:t>07/01/2026</a:t>
            </a:fld>
            <a:endParaRPr lang="es-E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s-E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CDF74C9-6FB5-4621-B7DC-E9E2DB2ABB0E}" type="slidenum">
              <a:rPr lang="es-ES" smtClean="0"/>
              <a:t>‹Nº›</a:t>
            </a:fld>
            <a:endParaRPr lang="es-ES"/>
          </a:p>
        </p:txBody>
      </p:sp>
    </p:spTree>
    <p:extLst>
      <p:ext uri="{BB962C8B-B14F-4D97-AF65-F5344CB8AC3E}">
        <p14:creationId xmlns:p14="http://schemas.microsoft.com/office/powerpoint/2010/main" val="4195044478"/>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70.png"/><Relationship Id="rId17" Type="http://schemas.openxmlformats.org/officeDocument/2006/relationships/customXml" Target="../ink/ink8.xml"/><Relationship Id="rId2" Type="http://schemas.openxmlformats.org/officeDocument/2006/relationships/image" Target="../media/image7.png"/><Relationship Id="rId16"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10" Type="http://schemas.openxmlformats.org/officeDocument/2006/relationships/image" Target="../media/image60.png"/><Relationship Id="rId4" Type="http://schemas.openxmlformats.org/officeDocument/2006/relationships/image" Target="../media/image30.png"/><Relationship Id="rId9" Type="http://schemas.openxmlformats.org/officeDocument/2006/relationships/customXml" Target="../ink/ink4.xml"/><Relationship Id="rId1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a:xfrm>
            <a:off x="128016" y="1118808"/>
            <a:ext cx="5967984" cy="4747683"/>
          </a:xfrm>
        </p:spPr>
        <p:txBody>
          <a:bodyPr vert="horz" lIns="91440" tIns="45720" rIns="91440" bIns="45720" rtlCol="0" anchor="ctr">
            <a:normAutofit/>
          </a:bodyPr>
          <a:lstStyle/>
          <a:p>
            <a:pPr algn="l"/>
            <a:r>
              <a:rPr lang="en-US" sz="4800" dirty="0"/>
              <a:t>ARCHITECTURAL EVALUATION: EXAMS MODULE 1 </a:t>
            </a:r>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a:xfrm>
            <a:off x="6498769" y="1118809"/>
            <a:ext cx="5049763" cy="4747681"/>
          </a:xfrm>
          <a:effectLst/>
        </p:spPr>
        <p:txBody>
          <a:bodyPr vert="horz" lIns="91440" tIns="45720" rIns="91440" bIns="45720" rtlCol="0" anchor="ctr">
            <a:normAutofit/>
          </a:bodyPr>
          <a:lstStyle/>
          <a:p>
            <a:pPr algn="l"/>
            <a:r>
              <a:rPr lang="en-US" b="1" dirty="0"/>
              <a:t>Iker</a:t>
            </a:r>
          </a:p>
          <a:p>
            <a:pPr algn="l"/>
            <a:r>
              <a:rPr lang="en-US" b="1" dirty="0"/>
              <a:t>Martin Mayembe</a:t>
            </a:r>
          </a:p>
          <a:p>
            <a:pPr algn="l"/>
            <a:r>
              <a:rPr lang="en-US" b="1" dirty="0"/>
              <a:t>Valentyn Kornilov</a:t>
            </a:r>
          </a:p>
          <a:p>
            <a:pPr algn="l"/>
            <a:r>
              <a:rPr lang="en-US" b="1" dirty="0"/>
              <a:t>Yash Mange</a:t>
            </a:r>
          </a:p>
          <a:p>
            <a:pPr algn="l"/>
            <a:r>
              <a:rPr lang="en-US" b="1" dirty="0"/>
              <a:t>Vladislav</a:t>
            </a:r>
          </a:p>
          <a:p>
            <a:pPr algn="l"/>
            <a:endParaRPr lang="en-US" b="1" dirty="0"/>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a:xfrm>
            <a:off x="433086" y="0"/>
            <a:ext cx="5662913" cy="1325563"/>
          </a:xfrm>
        </p:spPr>
        <p:txBody>
          <a:bodyPr/>
          <a:lstStyle/>
          <a:p>
            <a:r>
              <a:rPr lang="en-001" dirty="0"/>
              <a:t>SECURITY </a:t>
            </a:r>
            <a:r>
              <a:rPr lang="en-US" dirty="0"/>
              <a:t>PROBLEM</a:t>
            </a:r>
            <a:br>
              <a:rPr lang="en-001" dirty="0"/>
            </a:br>
            <a:r>
              <a:rPr lang="en-001" sz="2000" dirty="0"/>
              <a:t>(Valentyn)</a:t>
            </a:r>
            <a:endParaRPr lang="en-US" sz="2000" dirty="0"/>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527860" y="1325563"/>
            <a:ext cx="5822092" cy="4916574"/>
          </a:xfrm>
        </p:spPr>
        <p:txBody>
          <a:bodyPr>
            <a:normAutofit/>
          </a:bodyPr>
          <a:lstStyle/>
          <a:p>
            <a:pPr marL="0" indent="0">
              <a:buNone/>
            </a:pPr>
            <a:r>
              <a:rPr lang="en-US" dirty="0"/>
              <a:t>An attacker</a:t>
            </a:r>
            <a:r>
              <a:rPr lang="en-001" dirty="0"/>
              <a:t> tries to modify the grades by</a:t>
            </a:r>
            <a:r>
              <a:rPr lang="en-US" dirty="0"/>
              <a:t> </a:t>
            </a:r>
            <a:r>
              <a:rPr lang="en-001" dirty="0"/>
              <a:t>sending </a:t>
            </a:r>
            <a:r>
              <a:rPr lang="en-US" dirty="0"/>
              <a:t>a grade edit request to Grading Management component.</a:t>
            </a:r>
            <a:endParaRPr lang="en-001" dirty="0"/>
          </a:p>
          <a:p>
            <a:pPr marL="0" indent="0">
              <a:buNone/>
            </a:pPr>
            <a:endParaRPr lang="en-001" dirty="0"/>
          </a:p>
          <a:p>
            <a:pPr marL="0" indent="0">
              <a:buNone/>
            </a:pPr>
            <a:r>
              <a:rPr lang="en-001" dirty="0"/>
              <a:t>Solution: </a:t>
            </a:r>
            <a:r>
              <a:rPr lang="en-US" dirty="0"/>
              <a:t>The </a:t>
            </a:r>
            <a:r>
              <a:rPr lang="en-001" dirty="0"/>
              <a:t>request </a:t>
            </a:r>
            <a:r>
              <a:rPr lang="en-US" dirty="0"/>
              <a:t>is detected, an attacker is not recognized as a teacher, notification is sent.</a:t>
            </a:r>
            <a:endParaRPr lang="en-001" dirty="0"/>
          </a:p>
          <a:p>
            <a:pPr marL="0" indent="0">
              <a:buNone/>
            </a:pPr>
            <a:endParaRPr lang="en-001" dirty="0"/>
          </a:p>
          <a:p>
            <a:pPr marL="0" indent="0">
              <a:buNone/>
            </a:pPr>
            <a:r>
              <a:rPr lang="en-US" dirty="0"/>
              <a:t>No architecture modification is needed because a notification is just being sent.</a:t>
            </a:r>
            <a:endParaRPr lang="en-001" dirty="0"/>
          </a:p>
        </p:txBody>
      </p:sp>
      <p:pic>
        <p:nvPicPr>
          <p:cNvPr id="13" name="Picture 12">
            <a:extLst>
              <a:ext uri="{FF2B5EF4-FFF2-40B4-BE49-F238E27FC236}">
                <a16:creationId xmlns:a16="http://schemas.microsoft.com/office/drawing/2014/main" id="{11C8A0D1-575D-4D21-5CD4-9B1DD20D63DA}"/>
              </a:ext>
            </a:extLst>
          </p:cNvPr>
          <p:cNvPicPr>
            <a:picLocks noChangeAspect="1"/>
          </p:cNvPicPr>
          <p:nvPr/>
        </p:nvPicPr>
        <p:blipFill>
          <a:blip r:embed="rId2"/>
          <a:stretch>
            <a:fillRect/>
          </a:stretch>
        </p:blipFill>
        <p:spPr>
          <a:xfrm>
            <a:off x="527860" y="5080572"/>
            <a:ext cx="11136279" cy="1581371"/>
          </a:xfrm>
          <a:prstGeom prst="rect">
            <a:avLst/>
          </a:prstGeom>
        </p:spPr>
      </p:pic>
      <p:sp>
        <p:nvSpPr>
          <p:cNvPr id="5" name="TextBox 4">
            <a:extLst>
              <a:ext uri="{FF2B5EF4-FFF2-40B4-BE49-F238E27FC236}">
                <a16:creationId xmlns:a16="http://schemas.microsoft.com/office/drawing/2014/main" id="{F41EE124-D96B-C268-F58D-A5B17826BB4A}"/>
              </a:ext>
            </a:extLst>
          </p:cNvPr>
          <p:cNvSpPr txBox="1"/>
          <p:nvPr/>
        </p:nvSpPr>
        <p:spPr>
          <a:xfrm>
            <a:off x="6785988" y="736048"/>
            <a:ext cx="5299008" cy="3693319"/>
          </a:xfrm>
          <a:prstGeom prst="rect">
            <a:avLst/>
          </a:prstGeom>
          <a:noFill/>
        </p:spPr>
        <p:txBody>
          <a:bodyPr wrap="square">
            <a:spAutoFit/>
          </a:bodyPr>
          <a:lstStyle/>
          <a:p>
            <a:r>
              <a:rPr lang="en-US" dirty="0"/>
              <a:t>Source of stimulus: Grading Management (unauthorized access)</a:t>
            </a:r>
            <a:endParaRPr lang="en-001" dirty="0"/>
          </a:p>
          <a:p>
            <a:endParaRPr lang="en-US" dirty="0"/>
          </a:p>
          <a:p>
            <a:r>
              <a:rPr lang="en-US" dirty="0"/>
              <a:t>Stimulus: Editing the grades with an unauthorized access</a:t>
            </a:r>
            <a:endParaRPr lang="en-001" dirty="0"/>
          </a:p>
          <a:p>
            <a:endParaRPr lang="en-US" dirty="0"/>
          </a:p>
          <a:p>
            <a:r>
              <a:rPr lang="en-US" dirty="0"/>
              <a:t>Environment: Run-time</a:t>
            </a:r>
          </a:p>
          <a:p>
            <a:endParaRPr lang="en-001" dirty="0"/>
          </a:p>
          <a:p>
            <a:r>
              <a:rPr lang="en-US" dirty="0"/>
              <a:t>Artifact: Persistence Adapter</a:t>
            </a:r>
            <a:endParaRPr lang="en-001" dirty="0"/>
          </a:p>
          <a:p>
            <a:endParaRPr lang="en-US" dirty="0"/>
          </a:p>
          <a:p>
            <a:r>
              <a:rPr lang="en-US" dirty="0"/>
              <a:t>Response: Unauthorized access detected</a:t>
            </a:r>
            <a:endParaRPr lang="en-001" dirty="0"/>
          </a:p>
          <a:p>
            <a:endParaRPr lang="en-US" dirty="0"/>
          </a:p>
          <a:p>
            <a:r>
              <a:rPr lang="en-US" dirty="0"/>
              <a:t>Measure: Notification is sent</a:t>
            </a:r>
            <a:endParaRPr lang="en-001" dirty="0"/>
          </a:p>
        </p:txBody>
      </p:sp>
    </p:spTree>
    <p:extLst>
      <p:ext uri="{BB962C8B-B14F-4D97-AF65-F5344CB8AC3E}">
        <p14:creationId xmlns:p14="http://schemas.microsoft.com/office/powerpoint/2010/main" val="1245900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F0CC7-8071-6FF2-1A2D-CA044F5ECA70}"/>
              </a:ext>
            </a:extLst>
          </p:cNvPr>
          <p:cNvSpPr>
            <a:spLocks noGrp="1"/>
          </p:cNvSpPr>
          <p:nvPr>
            <p:ph type="title"/>
          </p:nvPr>
        </p:nvSpPr>
        <p:spPr/>
        <p:txBody>
          <a:bodyPr/>
          <a:lstStyle/>
          <a:p>
            <a:endParaRPr lang="en-001"/>
          </a:p>
        </p:txBody>
      </p:sp>
      <p:sp>
        <p:nvSpPr>
          <p:cNvPr id="3" name="Content Placeholder 2">
            <a:extLst>
              <a:ext uri="{FF2B5EF4-FFF2-40B4-BE49-F238E27FC236}">
                <a16:creationId xmlns:a16="http://schemas.microsoft.com/office/drawing/2014/main" id="{FE003C02-2DC2-7A9E-2EAD-351C47E7D582}"/>
              </a:ext>
            </a:extLst>
          </p:cNvPr>
          <p:cNvSpPr>
            <a:spLocks noGrp="1"/>
          </p:cNvSpPr>
          <p:nvPr>
            <p:ph idx="1"/>
          </p:nvPr>
        </p:nvSpPr>
        <p:spPr/>
        <p:txBody>
          <a:bodyPr/>
          <a:lstStyle/>
          <a:p>
            <a:endParaRPr lang="en-001"/>
          </a:p>
        </p:txBody>
      </p:sp>
      <p:pic>
        <p:nvPicPr>
          <p:cNvPr id="5" name="Picture 4">
            <a:extLst>
              <a:ext uri="{FF2B5EF4-FFF2-40B4-BE49-F238E27FC236}">
                <a16:creationId xmlns:a16="http://schemas.microsoft.com/office/drawing/2014/main" id="{2C1C7190-0ED2-522C-BBC2-E294EDC171D9}"/>
              </a:ext>
            </a:extLst>
          </p:cNvPr>
          <p:cNvPicPr>
            <a:picLocks noChangeAspect="1"/>
          </p:cNvPicPr>
          <p:nvPr/>
        </p:nvPicPr>
        <p:blipFill>
          <a:blip r:embed="rId2"/>
          <a:stretch>
            <a:fillRect/>
          </a:stretch>
        </p:blipFill>
        <p:spPr>
          <a:xfrm>
            <a:off x="0" y="0"/>
            <a:ext cx="12192000" cy="6857999"/>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9DB232F3-C777-45C4-5D8A-F214BA04B058}"/>
                  </a:ext>
                </a:extLst>
              </p14:cNvPr>
              <p14:cNvContentPartPr/>
              <p14:nvPr/>
            </p14:nvContentPartPr>
            <p14:xfrm>
              <a:off x="6487100" y="2558045"/>
              <a:ext cx="1588320" cy="1032840"/>
            </p14:xfrm>
          </p:contentPart>
        </mc:Choice>
        <mc:Fallback xmlns="">
          <p:pic>
            <p:nvPicPr>
              <p:cNvPr id="7" name="Ink 6">
                <a:extLst>
                  <a:ext uri="{FF2B5EF4-FFF2-40B4-BE49-F238E27FC236}">
                    <a16:creationId xmlns:a16="http://schemas.microsoft.com/office/drawing/2014/main" id="{9DB232F3-C777-45C4-5D8A-F214BA04B058}"/>
                  </a:ext>
                </a:extLst>
              </p:cNvPr>
              <p:cNvPicPr/>
              <p:nvPr/>
            </p:nvPicPr>
            <p:blipFill>
              <a:blip r:embed="rId4"/>
              <a:stretch>
                <a:fillRect/>
              </a:stretch>
            </p:blipFill>
            <p:spPr>
              <a:xfrm>
                <a:off x="6469460" y="2540045"/>
                <a:ext cx="1623960" cy="10684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9D43A3EB-A922-141D-A4B8-B0FBE552064C}"/>
                  </a:ext>
                </a:extLst>
              </p14:cNvPr>
              <p14:cNvContentPartPr/>
              <p14:nvPr/>
            </p14:nvContentPartPr>
            <p14:xfrm>
              <a:off x="4016420" y="4522925"/>
              <a:ext cx="1490760" cy="935280"/>
            </p14:xfrm>
          </p:contentPart>
        </mc:Choice>
        <mc:Fallback xmlns="">
          <p:pic>
            <p:nvPicPr>
              <p:cNvPr id="9" name="Ink 8">
                <a:extLst>
                  <a:ext uri="{FF2B5EF4-FFF2-40B4-BE49-F238E27FC236}">
                    <a16:creationId xmlns:a16="http://schemas.microsoft.com/office/drawing/2014/main" id="{9D43A3EB-A922-141D-A4B8-B0FBE552064C}"/>
                  </a:ext>
                </a:extLst>
              </p:cNvPr>
              <p:cNvPicPr/>
              <p:nvPr/>
            </p:nvPicPr>
            <p:blipFill>
              <a:blip r:embed="rId6"/>
              <a:stretch>
                <a:fillRect/>
              </a:stretch>
            </p:blipFill>
            <p:spPr>
              <a:xfrm>
                <a:off x="3998780" y="4504925"/>
                <a:ext cx="1526400" cy="970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3" name="Ink 12">
                <a:extLst>
                  <a:ext uri="{FF2B5EF4-FFF2-40B4-BE49-F238E27FC236}">
                    <a16:creationId xmlns:a16="http://schemas.microsoft.com/office/drawing/2014/main" id="{8E755EB7-AAA1-0B7C-3273-5A659ECD1E27}"/>
                  </a:ext>
                </a:extLst>
              </p14:cNvPr>
              <p14:cNvContentPartPr/>
              <p14:nvPr/>
            </p14:nvContentPartPr>
            <p14:xfrm>
              <a:off x="4016780" y="4542725"/>
              <a:ext cx="360" cy="50760"/>
            </p14:xfrm>
          </p:contentPart>
        </mc:Choice>
        <mc:Fallback xmlns="">
          <p:pic>
            <p:nvPicPr>
              <p:cNvPr id="13" name="Ink 12">
                <a:extLst>
                  <a:ext uri="{FF2B5EF4-FFF2-40B4-BE49-F238E27FC236}">
                    <a16:creationId xmlns:a16="http://schemas.microsoft.com/office/drawing/2014/main" id="{8E755EB7-AAA1-0B7C-3273-5A659ECD1E27}"/>
                  </a:ext>
                </a:extLst>
              </p:cNvPr>
              <p:cNvPicPr/>
              <p:nvPr/>
            </p:nvPicPr>
            <p:blipFill>
              <a:blip r:embed="rId8"/>
              <a:stretch>
                <a:fillRect/>
              </a:stretch>
            </p:blipFill>
            <p:spPr>
              <a:xfrm>
                <a:off x="3999140" y="4524725"/>
                <a:ext cx="36000" cy="86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4" name="Ink 13">
                <a:extLst>
                  <a:ext uri="{FF2B5EF4-FFF2-40B4-BE49-F238E27FC236}">
                    <a16:creationId xmlns:a16="http://schemas.microsoft.com/office/drawing/2014/main" id="{2C9D63BF-D432-F027-A00F-ADBD55BE6D1B}"/>
                  </a:ext>
                </a:extLst>
              </p14:cNvPr>
              <p14:cNvContentPartPr/>
              <p14:nvPr/>
            </p14:nvContentPartPr>
            <p14:xfrm>
              <a:off x="6595100" y="2607005"/>
              <a:ext cx="360" cy="360"/>
            </p14:xfrm>
          </p:contentPart>
        </mc:Choice>
        <mc:Fallback xmlns="">
          <p:pic>
            <p:nvPicPr>
              <p:cNvPr id="14" name="Ink 13">
                <a:extLst>
                  <a:ext uri="{FF2B5EF4-FFF2-40B4-BE49-F238E27FC236}">
                    <a16:creationId xmlns:a16="http://schemas.microsoft.com/office/drawing/2014/main" id="{2C9D63BF-D432-F027-A00F-ADBD55BE6D1B}"/>
                  </a:ext>
                </a:extLst>
              </p:cNvPr>
              <p:cNvPicPr/>
              <p:nvPr/>
            </p:nvPicPr>
            <p:blipFill>
              <a:blip r:embed="rId10"/>
              <a:stretch>
                <a:fillRect/>
              </a:stretch>
            </p:blipFill>
            <p:spPr>
              <a:xfrm>
                <a:off x="6577460" y="258900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6" name="Ink 15">
                <a:extLst>
                  <a:ext uri="{FF2B5EF4-FFF2-40B4-BE49-F238E27FC236}">
                    <a16:creationId xmlns:a16="http://schemas.microsoft.com/office/drawing/2014/main" id="{FFA2B420-EF32-C3F2-52A5-60C1C5F77F45}"/>
                  </a:ext>
                </a:extLst>
              </p14:cNvPr>
              <p14:cNvContentPartPr/>
              <p14:nvPr/>
            </p14:nvContentPartPr>
            <p14:xfrm>
              <a:off x="7193420" y="3569645"/>
              <a:ext cx="44640" cy="302760"/>
            </p14:xfrm>
          </p:contentPart>
        </mc:Choice>
        <mc:Fallback xmlns="">
          <p:pic>
            <p:nvPicPr>
              <p:cNvPr id="16" name="Ink 15">
                <a:extLst>
                  <a:ext uri="{FF2B5EF4-FFF2-40B4-BE49-F238E27FC236}">
                    <a16:creationId xmlns:a16="http://schemas.microsoft.com/office/drawing/2014/main" id="{FFA2B420-EF32-C3F2-52A5-60C1C5F77F45}"/>
                  </a:ext>
                </a:extLst>
              </p:cNvPr>
              <p:cNvPicPr/>
              <p:nvPr/>
            </p:nvPicPr>
            <p:blipFill>
              <a:blip r:embed="rId12"/>
              <a:stretch>
                <a:fillRect/>
              </a:stretch>
            </p:blipFill>
            <p:spPr>
              <a:xfrm>
                <a:off x="7175780" y="3551645"/>
                <a:ext cx="8028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9" name="Ink 18">
                <a:extLst>
                  <a:ext uri="{FF2B5EF4-FFF2-40B4-BE49-F238E27FC236}">
                    <a16:creationId xmlns:a16="http://schemas.microsoft.com/office/drawing/2014/main" id="{F9503393-C4AD-77D7-8EC0-AE3FC8C827D2}"/>
                  </a:ext>
                </a:extLst>
              </p14:cNvPr>
              <p14:cNvContentPartPr/>
              <p14:nvPr/>
            </p14:nvContentPartPr>
            <p14:xfrm>
              <a:off x="5534180" y="4114325"/>
              <a:ext cx="1314000" cy="550080"/>
            </p14:xfrm>
          </p:contentPart>
        </mc:Choice>
        <mc:Fallback xmlns="">
          <p:pic>
            <p:nvPicPr>
              <p:cNvPr id="19" name="Ink 18">
                <a:extLst>
                  <a:ext uri="{FF2B5EF4-FFF2-40B4-BE49-F238E27FC236}">
                    <a16:creationId xmlns:a16="http://schemas.microsoft.com/office/drawing/2014/main" id="{F9503393-C4AD-77D7-8EC0-AE3FC8C827D2}"/>
                  </a:ext>
                </a:extLst>
              </p:cNvPr>
              <p:cNvPicPr/>
              <p:nvPr/>
            </p:nvPicPr>
            <p:blipFill>
              <a:blip r:embed="rId14"/>
              <a:stretch>
                <a:fillRect/>
              </a:stretch>
            </p:blipFill>
            <p:spPr>
              <a:xfrm>
                <a:off x="5516540" y="4096325"/>
                <a:ext cx="1349640" cy="5857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0" name="Ink 19">
                <a:extLst>
                  <a:ext uri="{FF2B5EF4-FFF2-40B4-BE49-F238E27FC236}">
                    <a16:creationId xmlns:a16="http://schemas.microsoft.com/office/drawing/2014/main" id="{26D9AF15-2338-013C-C94F-A998DA4DFF6C}"/>
                  </a:ext>
                </a:extLst>
              </p14:cNvPr>
              <p14:cNvContentPartPr/>
              <p14:nvPr/>
            </p14:nvContentPartPr>
            <p14:xfrm>
              <a:off x="6660980" y="3752885"/>
              <a:ext cx="820800" cy="529200"/>
            </p14:xfrm>
          </p:contentPart>
        </mc:Choice>
        <mc:Fallback xmlns="">
          <p:pic>
            <p:nvPicPr>
              <p:cNvPr id="20" name="Ink 19">
                <a:extLst>
                  <a:ext uri="{FF2B5EF4-FFF2-40B4-BE49-F238E27FC236}">
                    <a16:creationId xmlns:a16="http://schemas.microsoft.com/office/drawing/2014/main" id="{26D9AF15-2338-013C-C94F-A998DA4DFF6C}"/>
                  </a:ext>
                </a:extLst>
              </p:cNvPr>
              <p:cNvPicPr/>
              <p:nvPr/>
            </p:nvPicPr>
            <p:blipFill>
              <a:blip r:embed="rId16"/>
              <a:stretch>
                <a:fillRect/>
              </a:stretch>
            </p:blipFill>
            <p:spPr>
              <a:xfrm>
                <a:off x="6642980" y="3734885"/>
                <a:ext cx="856440" cy="56484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1" name="Ink 20">
                <a:extLst>
                  <a:ext uri="{FF2B5EF4-FFF2-40B4-BE49-F238E27FC236}">
                    <a16:creationId xmlns:a16="http://schemas.microsoft.com/office/drawing/2014/main" id="{24294F88-D4EB-4A6C-9872-98481925EDE7}"/>
                  </a:ext>
                </a:extLst>
              </p14:cNvPr>
              <p14:cNvContentPartPr/>
              <p14:nvPr/>
            </p14:nvContentPartPr>
            <p14:xfrm>
              <a:off x="13073660" y="3200285"/>
              <a:ext cx="360" cy="360"/>
            </p14:xfrm>
          </p:contentPart>
        </mc:Choice>
        <mc:Fallback xmlns="">
          <p:pic>
            <p:nvPicPr>
              <p:cNvPr id="21" name="Ink 20">
                <a:extLst>
                  <a:ext uri="{FF2B5EF4-FFF2-40B4-BE49-F238E27FC236}">
                    <a16:creationId xmlns:a16="http://schemas.microsoft.com/office/drawing/2014/main" id="{24294F88-D4EB-4A6C-9872-98481925EDE7}"/>
                  </a:ext>
                </a:extLst>
              </p:cNvPr>
              <p:cNvPicPr/>
              <p:nvPr/>
            </p:nvPicPr>
            <p:blipFill>
              <a:blip r:embed="rId10"/>
              <a:stretch>
                <a:fillRect/>
              </a:stretch>
            </p:blipFill>
            <p:spPr>
              <a:xfrm>
                <a:off x="13056020" y="3182285"/>
                <a:ext cx="36000" cy="36000"/>
              </a:xfrm>
              <a:prstGeom prst="rect">
                <a:avLst/>
              </a:prstGeom>
            </p:spPr>
          </p:pic>
        </mc:Fallback>
      </mc:AlternateContent>
    </p:spTree>
    <p:extLst>
      <p:ext uri="{BB962C8B-B14F-4D97-AF65-F5344CB8AC3E}">
        <p14:creationId xmlns:p14="http://schemas.microsoft.com/office/powerpoint/2010/main" val="3801917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80000"/>
                <a:lumMod val="80000"/>
              </a:schemeClr>
              <a:schemeClr val="bg2">
                <a:tint val="98000"/>
              </a:schemeClr>
            </a:duotone>
          </a:blip>
          <a:stretch/>
        </a:blip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913795" y="609600"/>
            <a:ext cx="5978072" cy="970450"/>
          </a:xfrm>
        </p:spPr>
        <p:txBody>
          <a:bodyPr>
            <a:normAutofit/>
          </a:bodyPr>
          <a:lstStyle/>
          <a:p>
            <a:pPr>
              <a:lnSpc>
                <a:spcPct val="90000"/>
              </a:lnSpc>
            </a:pPr>
            <a:r>
              <a:rPr lang="es-ES" sz="3100" dirty="0"/>
              <a:t>AVALABILITY PROBLEM: </a:t>
            </a:r>
            <a:r>
              <a:rPr lang="es-ES" sz="3100" dirty="0" err="1"/>
              <a:t>Requirements</a:t>
            </a:r>
            <a:endParaRPr lang="es-ES" sz="3100" dirty="0"/>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913795" y="1828801"/>
            <a:ext cx="5978072" cy="3866048"/>
          </a:xfrm>
        </p:spPr>
        <p:txBody>
          <a:bodyPr anchor="ctr">
            <a:normAutofit/>
          </a:bodyPr>
          <a:lstStyle/>
          <a:p>
            <a:pPr>
              <a:lnSpc>
                <a:spcPct val="90000"/>
              </a:lnSpc>
            </a:pPr>
            <a:r>
              <a:rPr lang="en-US" sz="1600"/>
              <a:t>Source of stimulus: Results Views component (Web Application), requesting updated exam marks for student visualization.</a:t>
            </a:r>
          </a:p>
          <a:p>
            <a:pPr>
              <a:lnSpc>
                <a:spcPct val="90000"/>
              </a:lnSpc>
            </a:pPr>
            <a:r>
              <a:rPr lang="en-US" sz="1600"/>
              <a:t>    Stimulus: Results Views requests the publication and availability of newly uploaded exam marks from the Web Application.</a:t>
            </a:r>
          </a:p>
          <a:p>
            <a:pPr>
              <a:lnSpc>
                <a:spcPct val="90000"/>
              </a:lnSpc>
            </a:pPr>
            <a:r>
              <a:rPr lang="en-US" sz="1600"/>
              <a:t>    Environment: Normal system operation, with internal container communication enabled between Web Application and Backend API.</a:t>
            </a:r>
          </a:p>
          <a:p>
            <a:pPr>
              <a:lnSpc>
                <a:spcPct val="90000"/>
              </a:lnSpc>
            </a:pPr>
            <a:r>
              <a:rPr lang="en-US" sz="1600"/>
              <a:t>    Artifact: Web Application – Grade Publisher Monitor container.</a:t>
            </a:r>
          </a:p>
          <a:p>
            <a:pPr>
              <a:lnSpc>
                <a:spcPct val="90000"/>
              </a:lnSpc>
            </a:pPr>
            <a:r>
              <a:rPr lang="en-US" sz="1600"/>
              <a:t>    Response: Validation from the Grade Publisher Monitor, if </a:t>
            </a:r>
            <a:r>
              <a:rPr lang="en-US" sz="1600" err="1"/>
              <a:t>succeded</a:t>
            </a:r>
            <a:r>
              <a:rPr lang="en-US" sz="1600"/>
              <a:t> confirmation, if failed notification of failure.</a:t>
            </a:r>
          </a:p>
          <a:p>
            <a:pPr>
              <a:lnSpc>
                <a:spcPct val="90000"/>
              </a:lnSpc>
            </a:pPr>
            <a:r>
              <a:rPr lang="en-US" sz="1600"/>
              <a:t>    Measure: Validation &lt; 1 min. Mark availability &lt; 15 min.</a:t>
            </a:r>
            <a:endParaRPr lang="es-ES" sz="1600"/>
          </a:p>
        </p:txBody>
      </p:sp>
      <p:pic>
        <p:nvPicPr>
          <p:cNvPr id="11" name="Picture 10">
            <a:extLst>
              <a:ext uri="{FF2B5EF4-FFF2-40B4-BE49-F238E27FC236}">
                <a16:creationId xmlns:a16="http://schemas.microsoft.com/office/drawing/2014/main" id="{7724A564-BE2C-4188-AA55-E1F8840FFB1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964" r="2807" b="1446"/>
          <a:stretch/>
        </p:blipFill>
        <p:spPr>
          <a:xfrm>
            <a:off x="7232905" y="1"/>
            <a:ext cx="4959095" cy="6858000"/>
          </a:xfrm>
          <a:prstGeom prst="rect">
            <a:avLst/>
          </a:prstGeom>
        </p:spPr>
      </p:pic>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5"/>
          <a:stretch>
            <a:fillRect/>
          </a:stretch>
        </p:blipFill>
        <p:spPr>
          <a:xfrm>
            <a:off x="7552945" y="1202350"/>
            <a:ext cx="3995592" cy="398560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913795" y="609600"/>
            <a:ext cx="5978072" cy="970450"/>
          </a:xfrm>
        </p:spPr>
        <p:txBody>
          <a:bodyPr>
            <a:normAutofit/>
          </a:bodyPr>
          <a:lstStyle/>
          <a:p>
            <a:pPr>
              <a:lnSpc>
                <a:spcPct val="90000"/>
              </a:lnSpc>
            </a:pPr>
            <a:r>
              <a:rPr lang="es-ES" sz="3100" dirty="0"/>
              <a:t>AVAILABILITY PROBLEM: </a:t>
            </a:r>
            <a:r>
              <a:rPr lang="es-ES" sz="3100" dirty="0" err="1"/>
              <a:t>Solution</a:t>
            </a:r>
            <a:endParaRPr lang="es-ES" sz="3100" dirty="0"/>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913795" y="1828801"/>
            <a:ext cx="5978072" cy="3866048"/>
          </a:xfrm>
        </p:spPr>
        <p:txBody>
          <a:bodyPr anchor="ctr">
            <a:normAutofit/>
          </a:bodyPr>
          <a:lstStyle/>
          <a:p>
            <a:pPr>
              <a:lnSpc>
                <a:spcPct val="90000"/>
              </a:lnSpc>
            </a:pPr>
            <a:r>
              <a:rPr lang="en-US" sz="1700"/>
              <a:t>After the upload of the marks by the teacher, the system performs a validation process lasting up to 1 minute.</a:t>
            </a:r>
          </a:p>
          <a:p>
            <a:pPr>
              <a:lnSpc>
                <a:spcPct val="90000"/>
              </a:lnSpc>
            </a:pPr>
            <a:r>
              <a:rPr lang="en-US" sz="1700"/>
              <a:t>    This is achieved by implementing a Grade Publisher Monitor container in the Web Application layer of the architecture.</a:t>
            </a:r>
          </a:p>
          <a:p>
            <a:pPr>
              <a:lnSpc>
                <a:spcPct val="90000"/>
              </a:lnSpc>
            </a:pPr>
            <a:r>
              <a:rPr lang="en-US" sz="1700"/>
              <a:t>    If the validation fails, a notification is sent to the teacher informing that the marks have not been correctly published, so corrective action can be taken in order to meet the 15-minute margin.</a:t>
            </a:r>
          </a:p>
          <a:p>
            <a:pPr>
              <a:lnSpc>
                <a:spcPct val="90000"/>
              </a:lnSpc>
            </a:pPr>
            <a:r>
              <a:rPr lang="en-US" sz="1700"/>
              <a:t>    If the validation succeeds, the Grade Publisher Monitor sends a confirmation notification to the teacher indicating that the marks have been correctly published.</a:t>
            </a:r>
            <a:endParaRPr lang="en-GB" sz="1700" noProof="0"/>
          </a:p>
        </p:txBody>
      </p:sp>
      <p:pic>
        <p:nvPicPr>
          <p:cNvPr id="11" name="Picture 10">
            <a:extLst>
              <a:ext uri="{FF2B5EF4-FFF2-40B4-BE49-F238E27FC236}">
                <a16:creationId xmlns:a16="http://schemas.microsoft.com/office/drawing/2014/main" id="{7724A564-BE2C-4188-AA55-E1F8840FFB1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964" r="2807" b="1446"/>
          <a:stretch/>
        </p:blipFill>
        <p:spPr>
          <a:xfrm>
            <a:off x="7232905" y="1"/>
            <a:ext cx="4959095" cy="6858000"/>
          </a:xfrm>
          <a:prstGeom prst="rect">
            <a:avLst/>
          </a:prstGeom>
        </p:spPr>
      </p:pic>
      <p:pic>
        <p:nvPicPr>
          <p:cNvPr id="6" name="Imagen 5" descr="Diagrama&#10;&#10;El contenido generado por IA puede ser incorrecto.">
            <a:extLst>
              <a:ext uri="{FF2B5EF4-FFF2-40B4-BE49-F238E27FC236}">
                <a16:creationId xmlns:a16="http://schemas.microsoft.com/office/drawing/2014/main" id="{BAC98227-B575-4827-3DC5-DEDE27122F89}"/>
              </a:ext>
            </a:extLst>
          </p:cNvPr>
          <p:cNvPicPr>
            <a:picLocks noChangeAspect="1"/>
          </p:cNvPicPr>
          <p:nvPr/>
        </p:nvPicPr>
        <p:blipFill>
          <a:blip r:embed="rId4"/>
          <a:stretch>
            <a:fillRect/>
          </a:stretch>
        </p:blipFill>
        <p:spPr>
          <a:xfrm>
            <a:off x="7373546" y="945573"/>
            <a:ext cx="4677812" cy="4455616"/>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913795" y="609600"/>
            <a:ext cx="5978072" cy="970450"/>
          </a:xfrm>
        </p:spPr>
        <p:txBody>
          <a:bodyPr>
            <a:normAutofit/>
          </a:bodyPr>
          <a:lstStyle/>
          <a:p>
            <a:pPr>
              <a:lnSpc>
                <a:spcPct val="90000"/>
              </a:lnSpc>
            </a:pPr>
            <a:r>
              <a:rPr lang="es-ES" sz="3100" dirty="0"/>
              <a:t>MODIFIABILITY PROBLEM: </a:t>
            </a:r>
            <a:r>
              <a:rPr lang="es-ES" sz="3100" dirty="0" err="1"/>
              <a:t>Requirements</a:t>
            </a:r>
            <a:endParaRPr lang="es-ES" sz="3100" dirty="0"/>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913795" y="1828801"/>
            <a:ext cx="5978072" cy="3866048"/>
          </a:xfrm>
        </p:spPr>
        <p:txBody>
          <a:bodyPr anchor="ctr">
            <a:normAutofit fontScale="85000" lnSpcReduction="10000"/>
          </a:bodyPr>
          <a:lstStyle/>
          <a:p>
            <a:pPr marL="36900" indent="0">
              <a:buNone/>
            </a:pPr>
            <a:r>
              <a:rPr lang="en-US" dirty="0"/>
              <a:t>Source of stimulus: IT Department / Maintenance Engineer.</a:t>
            </a:r>
          </a:p>
          <a:p>
            <a:pPr marL="36900" indent="0">
              <a:buNone/>
            </a:pPr>
            <a:r>
              <a:rPr lang="en-US" dirty="0"/>
              <a:t>    Stimulus: A request to modify the Grading Management functionality to include a new feature.</a:t>
            </a:r>
          </a:p>
          <a:p>
            <a:pPr marL="36900" indent="0">
              <a:buNone/>
            </a:pPr>
            <a:r>
              <a:rPr lang="en-US" dirty="0"/>
              <a:t>    Environment: System in maintenance mode, with access to the Backend API source code, automated build pipeline, and test environment.</a:t>
            </a:r>
          </a:p>
          <a:p>
            <a:pPr marL="36900" indent="0">
              <a:buNone/>
            </a:pPr>
            <a:r>
              <a:rPr lang="en-US" dirty="0"/>
              <a:t>    Artifact: Backend API – Grading Management component and its dedicated Grading Persistence Adapter</a:t>
            </a:r>
          </a:p>
          <a:p>
            <a:pPr marL="36900" indent="0">
              <a:buNone/>
            </a:pPr>
            <a:r>
              <a:rPr lang="en-US" dirty="0"/>
              <a:t>    Response: The IT department modifies only the grading-related business logic and its dedicated persistence </a:t>
            </a:r>
            <a:r>
              <a:rPr lang="en-US" dirty="0" err="1"/>
              <a:t>adapter.No</a:t>
            </a:r>
            <a:r>
              <a:rPr lang="en-US" dirty="0"/>
              <a:t> changes are required in persistence adapters of other services</a:t>
            </a:r>
          </a:p>
          <a:p>
            <a:pPr marL="36900" indent="0">
              <a:buNone/>
            </a:pPr>
            <a:r>
              <a:rPr lang="en-US" dirty="0"/>
              <a:t>    Measure: Modification &lt; 1 hour. Only grading-related components and adapters are changed. </a:t>
            </a:r>
            <a:endParaRPr lang="es-ES" dirty="0"/>
          </a:p>
        </p:txBody>
      </p:sp>
      <p:pic>
        <p:nvPicPr>
          <p:cNvPr id="10" name="Picture 9">
            <a:extLst>
              <a:ext uri="{FF2B5EF4-FFF2-40B4-BE49-F238E27FC236}">
                <a16:creationId xmlns:a16="http://schemas.microsoft.com/office/drawing/2014/main" id="{7724A564-BE2C-4188-AA55-E1F8840FFB1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964" r="2807" b="1446"/>
          <a:stretch/>
        </p:blipFill>
        <p:spPr>
          <a:xfrm>
            <a:off x="7232905" y="1"/>
            <a:ext cx="4959095" cy="6858000"/>
          </a:xfrm>
          <a:prstGeom prst="rect">
            <a:avLst/>
          </a:prstGeom>
        </p:spPr>
      </p:pic>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4"/>
          <a:stretch>
            <a:fillRect/>
          </a:stretch>
        </p:blipFill>
        <p:spPr>
          <a:xfrm>
            <a:off x="7355801" y="1828801"/>
            <a:ext cx="4708044" cy="2930756"/>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a:extLst>
            <a:ext uri="{FF2B5EF4-FFF2-40B4-BE49-F238E27FC236}">
              <a16:creationId xmlns:a16="http://schemas.microsoft.com/office/drawing/2014/main" id="{7432310D-1A0D-8246-0814-8A3C1C4FFF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8CB2DA-4B2A-5908-5F1A-36A6E4A2E1E7}"/>
              </a:ext>
            </a:extLst>
          </p:cNvPr>
          <p:cNvSpPr>
            <a:spLocks noGrp="1"/>
          </p:cNvSpPr>
          <p:nvPr>
            <p:ph type="title"/>
          </p:nvPr>
        </p:nvSpPr>
        <p:spPr>
          <a:xfrm>
            <a:off x="913795" y="609600"/>
            <a:ext cx="5978072" cy="970450"/>
          </a:xfrm>
        </p:spPr>
        <p:txBody>
          <a:bodyPr>
            <a:normAutofit/>
          </a:bodyPr>
          <a:lstStyle/>
          <a:p>
            <a:pPr>
              <a:lnSpc>
                <a:spcPct val="90000"/>
              </a:lnSpc>
            </a:pPr>
            <a:r>
              <a:rPr lang="es-ES" sz="3100" dirty="0"/>
              <a:t>MODIFIABILITY PROBLEM: </a:t>
            </a:r>
            <a:r>
              <a:rPr lang="es-ES" sz="3100" dirty="0" err="1"/>
              <a:t>Solution</a:t>
            </a:r>
            <a:endParaRPr lang="es-ES" sz="3100" dirty="0"/>
          </a:p>
        </p:txBody>
      </p:sp>
      <p:sp>
        <p:nvSpPr>
          <p:cNvPr id="3" name="Marcador de contenido 2">
            <a:extLst>
              <a:ext uri="{FF2B5EF4-FFF2-40B4-BE49-F238E27FC236}">
                <a16:creationId xmlns:a16="http://schemas.microsoft.com/office/drawing/2014/main" id="{A7ECEE4E-23E6-276A-0CC1-FC0D138581F2}"/>
              </a:ext>
            </a:extLst>
          </p:cNvPr>
          <p:cNvSpPr>
            <a:spLocks noGrp="1"/>
          </p:cNvSpPr>
          <p:nvPr>
            <p:ph idx="1"/>
          </p:nvPr>
        </p:nvSpPr>
        <p:spPr>
          <a:xfrm>
            <a:off x="913795" y="1828801"/>
            <a:ext cx="5978072" cy="3866048"/>
          </a:xfrm>
        </p:spPr>
        <p:txBody>
          <a:bodyPr anchor="ctr">
            <a:normAutofit/>
          </a:bodyPr>
          <a:lstStyle/>
          <a:p>
            <a:r>
              <a:rPr lang="en-US"/>
              <a:t>To improve modifiability, the single shared Persistence Adapter is split into multiple independent persistence adapters, one per service data flow. </a:t>
            </a:r>
          </a:p>
          <a:p>
            <a:r>
              <a:rPr lang="en-US"/>
              <a:t>With this separation, changes in the grading data flow affect only the Grading Persistence Adapter and the Grading Management component, other services remain untouched and the time required to do any modification in any data flow is significantly reduced, allowing the change to be implemented within the 1-hour constraint.</a:t>
            </a:r>
            <a:endParaRPr lang="en-GB" noProof="0"/>
          </a:p>
        </p:txBody>
      </p:sp>
      <p:pic>
        <p:nvPicPr>
          <p:cNvPr id="16" name="Picture 15">
            <a:extLst>
              <a:ext uri="{FF2B5EF4-FFF2-40B4-BE49-F238E27FC236}">
                <a16:creationId xmlns:a16="http://schemas.microsoft.com/office/drawing/2014/main" id="{7724A564-BE2C-4188-AA55-E1F8840FFB1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964" r="2807" b="1446"/>
          <a:stretch/>
        </p:blipFill>
        <p:spPr>
          <a:xfrm>
            <a:off x="7232905" y="1"/>
            <a:ext cx="4959095" cy="6858000"/>
          </a:xfrm>
          <a:prstGeom prst="rect">
            <a:avLst/>
          </a:prstGeom>
        </p:spPr>
      </p:pic>
      <p:pic>
        <p:nvPicPr>
          <p:cNvPr id="5" name="Imagen 4" descr="Diagrama&#10;&#10;El contenido generado por IA puede ser incorrecto.">
            <a:extLst>
              <a:ext uri="{FF2B5EF4-FFF2-40B4-BE49-F238E27FC236}">
                <a16:creationId xmlns:a16="http://schemas.microsoft.com/office/drawing/2014/main" id="{E95A1131-E749-8097-57E0-C56AA78B70C7}"/>
              </a:ext>
            </a:extLst>
          </p:cNvPr>
          <p:cNvPicPr>
            <a:picLocks noChangeAspect="1"/>
          </p:cNvPicPr>
          <p:nvPr/>
        </p:nvPicPr>
        <p:blipFill>
          <a:blip r:embed="rId4"/>
          <a:stretch>
            <a:fillRect/>
          </a:stretch>
        </p:blipFill>
        <p:spPr>
          <a:xfrm>
            <a:off x="7232906" y="1828802"/>
            <a:ext cx="4959094" cy="3076192"/>
          </a:xfrm>
          <a:prstGeom prst="rect">
            <a:avLst/>
          </a:prstGeom>
        </p:spPr>
      </p:pic>
    </p:spTree>
    <p:extLst>
      <p:ext uri="{BB962C8B-B14F-4D97-AF65-F5344CB8AC3E}">
        <p14:creationId xmlns:p14="http://schemas.microsoft.com/office/powerpoint/2010/main" val="21261893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900506" y="1118808"/>
            <a:ext cx="4671467" cy="4747683"/>
          </a:xfrm>
        </p:spPr>
        <p:txBody>
          <a:bodyPr anchor="ctr">
            <a:normAutofit/>
          </a:bodyPr>
          <a:lstStyle/>
          <a:p>
            <a:pPr algn="l"/>
            <a:r>
              <a:rPr lang="en-US" sz="3400" dirty="0"/>
              <a:t>REQUIREMENT:</a:t>
            </a:r>
            <a:br>
              <a:rPr lang="en-US" sz="3400" dirty="0"/>
            </a:br>
            <a:r>
              <a:rPr lang="en-US" sz="3400" dirty="0"/>
              <a:t>TESTABILITY</a:t>
            </a:r>
            <a:endParaRPr lang="es-ES" sz="3400" dirty="0"/>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498769" y="1118809"/>
            <a:ext cx="5049763" cy="4747681"/>
          </a:xfrm>
          <a:effectLst/>
        </p:spPr>
        <p:txBody>
          <a:bodyPr anchor="ctr">
            <a:normAutofit/>
          </a:bodyPr>
          <a:lstStyle/>
          <a:p>
            <a:r>
              <a:rPr lang="en-US" dirty="0">
                <a:solidFill>
                  <a:schemeClr val="tx1"/>
                </a:solidFill>
              </a:rPr>
              <a:t>Each component of the system must take not more than 15 minutes to setup and deploy for testing.</a:t>
            </a:r>
          </a:p>
          <a:p>
            <a:pPr marL="36900" indent="0">
              <a:buNone/>
            </a:pPr>
            <a:endParaRPr lang="en-US" dirty="0">
              <a:solidFill>
                <a:schemeClr val="tx1"/>
              </a:solidFill>
            </a:endParaRPr>
          </a:p>
          <a:p>
            <a:r>
              <a:rPr lang="en-US" dirty="0">
                <a:solidFill>
                  <a:schemeClr val="tx1"/>
                </a:solidFill>
              </a:rPr>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8641A-48F8-BEFA-96A9-E8D5261B41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8EBFB5-FC17-D1F3-CE53-D898665C8894}"/>
              </a:ext>
            </a:extLst>
          </p:cNvPr>
          <p:cNvSpPr>
            <a:spLocks noGrp="1"/>
          </p:cNvSpPr>
          <p:nvPr>
            <p:ph type="title"/>
          </p:nvPr>
        </p:nvSpPr>
        <p:spPr>
          <a:xfrm>
            <a:off x="834013" y="1115568"/>
            <a:ext cx="3487616" cy="4626864"/>
          </a:xfrm>
        </p:spPr>
        <p:txBody>
          <a:bodyPr>
            <a:normAutofit/>
          </a:bodyPr>
          <a:lstStyle/>
          <a:p>
            <a:pPr algn="l"/>
            <a:r>
              <a:rPr lang="en-US" sz="3600" b="1" dirty="0"/>
              <a:t>1. Easy unit deployment:</a:t>
            </a:r>
            <a:br>
              <a:rPr lang="en-US" sz="3600" b="1" dirty="0"/>
            </a:br>
            <a:endParaRPr lang="en-ZM" sz="3600" dirty="0"/>
          </a:p>
        </p:txBody>
      </p:sp>
      <p:sp>
        <p:nvSpPr>
          <p:cNvPr id="3" name="Content Placeholder 2">
            <a:extLst>
              <a:ext uri="{FF2B5EF4-FFF2-40B4-BE49-F238E27FC236}">
                <a16:creationId xmlns:a16="http://schemas.microsoft.com/office/drawing/2014/main" id="{712DA8DB-233C-5249-17B4-CC7759BC5CB6}"/>
              </a:ext>
            </a:extLst>
          </p:cNvPr>
          <p:cNvSpPr>
            <a:spLocks noGrp="1"/>
          </p:cNvSpPr>
          <p:nvPr>
            <p:ph idx="1"/>
          </p:nvPr>
        </p:nvSpPr>
        <p:spPr>
          <a:xfrm>
            <a:off x="5105398" y="1621410"/>
            <a:ext cx="6245352" cy="4121022"/>
          </a:xfrm>
        </p:spPr>
        <p:txBody>
          <a:bodyPr anchor="ctr">
            <a:normAutofit/>
          </a:bodyPr>
          <a:lstStyle/>
          <a:p>
            <a:r>
              <a:rPr lang="en-US" dirty="0"/>
              <a:t>All modules communicate with each other via the Integration Adaptor</a:t>
            </a:r>
          </a:p>
          <a:p>
            <a:r>
              <a:rPr lang="en-US" dirty="0"/>
              <a:t>During testing, only the adaptor (which only needs to be deployed once for all components in the backend API) and the module being tested need to be deployed as other modules and the database can be mocked in the integration and persistence adaptors. </a:t>
            </a:r>
          </a:p>
          <a:p>
            <a:endParaRPr lang="en-ZM" dirty="0"/>
          </a:p>
        </p:txBody>
      </p:sp>
      <p:sp>
        <p:nvSpPr>
          <p:cNvPr id="4" name="Título 1">
            <a:extLst>
              <a:ext uri="{FF2B5EF4-FFF2-40B4-BE49-F238E27FC236}">
                <a16:creationId xmlns:a16="http://schemas.microsoft.com/office/drawing/2014/main" id="{93442E4B-7B9B-9F2A-DC37-1C754F54B185}"/>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STRENGTHS:</a:t>
            </a:r>
            <a:endParaRPr lang="es-ES" dirty="0"/>
          </a:p>
        </p:txBody>
      </p:sp>
    </p:spTree>
    <p:extLst>
      <p:ext uri="{BB962C8B-B14F-4D97-AF65-F5344CB8AC3E}">
        <p14:creationId xmlns:p14="http://schemas.microsoft.com/office/powerpoint/2010/main" val="13257275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a</a:t>
            </a:r>
            <a:endParaRPr lang="en-ZM" dirty="0"/>
          </a:p>
        </p:txBody>
      </p:sp>
      <p:pic>
        <p:nvPicPr>
          <p:cNvPr id="7" name="Content Placeholder 6">
            <a:extLst>
              <a:ext uri="{FF2B5EF4-FFF2-40B4-BE49-F238E27FC236}">
                <a16:creationId xmlns:a16="http://schemas.microsoft.com/office/drawing/2014/main" id="{B5A44C1D-0D38-1327-7B27-84A9FCA7EDD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402771"/>
            <a:ext cx="12192000" cy="5845629"/>
          </a:xfrm>
        </p:spPr>
      </p:pic>
    </p:spTree>
    <p:extLst>
      <p:ext uri="{BB962C8B-B14F-4D97-AF65-F5344CB8AC3E}">
        <p14:creationId xmlns:p14="http://schemas.microsoft.com/office/powerpoint/2010/main" val="18188472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77C8-86F8-E297-FD90-C6EB3144D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125AF98-02D2-4A52-30C9-70867A96324E}"/>
              </a:ext>
            </a:extLst>
          </p:cNvPr>
          <p:cNvSpPr>
            <a:spLocks noGrp="1"/>
          </p:cNvSpPr>
          <p:nvPr>
            <p:ph type="title"/>
          </p:nvPr>
        </p:nvSpPr>
        <p:spPr>
          <a:xfrm>
            <a:off x="900506" y="1118808"/>
            <a:ext cx="4671467" cy="4747683"/>
          </a:xfrm>
        </p:spPr>
        <p:txBody>
          <a:bodyPr anchor="ctr">
            <a:normAutofit/>
          </a:bodyPr>
          <a:lstStyle/>
          <a:p>
            <a:pPr algn="l"/>
            <a:r>
              <a:rPr lang="en-US" sz="3400" dirty="0"/>
              <a:t>REQUIREMENT:</a:t>
            </a:r>
            <a:br>
              <a:rPr lang="en-US" sz="3400" dirty="0"/>
            </a:br>
            <a:r>
              <a:rPr lang="en-US" sz="3400" dirty="0"/>
              <a:t>PERFORMANCE</a:t>
            </a:r>
            <a:endParaRPr lang="es-ES" sz="3400" dirty="0"/>
          </a:p>
        </p:txBody>
      </p:sp>
      <p:sp>
        <p:nvSpPr>
          <p:cNvPr id="3" name="Marcador de contenido 2">
            <a:extLst>
              <a:ext uri="{FF2B5EF4-FFF2-40B4-BE49-F238E27FC236}">
                <a16:creationId xmlns:a16="http://schemas.microsoft.com/office/drawing/2014/main" id="{2D80C310-5A23-B5E2-E3DC-253150498B92}"/>
              </a:ext>
            </a:extLst>
          </p:cNvPr>
          <p:cNvSpPr>
            <a:spLocks noGrp="1"/>
          </p:cNvSpPr>
          <p:nvPr>
            <p:ph idx="1"/>
          </p:nvPr>
        </p:nvSpPr>
        <p:spPr>
          <a:xfrm>
            <a:off x="6498769" y="1118809"/>
            <a:ext cx="5049763" cy="4747681"/>
          </a:xfrm>
          <a:effectLst/>
        </p:spPr>
        <p:txBody>
          <a:bodyPr anchor="ctr">
            <a:normAutofit/>
          </a:bodyPr>
          <a:lstStyle/>
          <a:p>
            <a:r>
              <a:rPr lang="en-US" dirty="0">
                <a:solidFill>
                  <a:schemeClr val="tx1"/>
                </a:solidFill>
              </a:rPr>
              <a:t>When a user makes a request, the system should respond within a maximum of 5 seconds during peak periods (5000 requests per second).</a:t>
            </a:r>
          </a:p>
          <a:p>
            <a:r>
              <a:rPr lang="en-US" dirty="0">
                <a:solidFill>
                  <a:schemeClr val="tx1"/>
                </a:solidFill>
              </a:rPr>
              <a:t>Architectural Extension: Required</a:t>
            </a:r>
          </a:p>
        </p:txBody>
      </p:sp>
    </p:spTree>
    <p:extLst>
      <p:ext uri="{BB962C8B-B14F-4D97-AF65-F5344CB8AC3E}">
        <p14:creationId xmlns:p14="http://schemas.microsoft.com/office/powerpoint/2010/main" val="28834653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4D62A-20FC-49D3-6447-24E7BD8867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55E221-35D3-8772-BBCF-29A000DDE294}"/>
              </a:ext>
            </a:extLst>
          </p:cNvPr>
          <p:cNvSpPr>
            <a:spLocks noGrp="1"/>
          </p:cNvSpPr>
          <p:nvPr>
            <p:ph type="title"/>
          </p:nvPr>
        </p:nvSpPr>
        <p:spPr>
          <a:xfrm>
            <a:off x="834013" y="1115568"/>
            <a:ext cx="3487616" cy="4626864"/>
          </a:xfrm>
        </p:spPr>
        <p:txBody>
          <a:bodyPr>
            <a:normAutofit/>
          </a:bodyPr>
          <a:lstStyle/>
          <a:p>
            <a:pPr algn="l"/>
            <a:r>
              <a:rPr lang="en-US" sz="3600" b="1" dirty="0"/>
              <a:t>1. Integration and Persistence bottlenecks:</a:t>
            </a:r>
            <a:br>
              <a:rPr lang="en-US" sz="3600" b="1" dirty="0"/>
            </a:br>
            <a:endParaRPr lang="en-ZM" sz="3600" dirty="0"/>
          </a:p>
        </p:txBody>
      </p:sp>
      <p:sp>
        <p:nvSpPr>
          <p:cNvPr id="3" name="Content Placeholder 2">
            <a:extLst>
              <a:ext uri="{FF2B5EF4-FFF2-40B4-BE49-F238E27FC236}">
                <a16:creationId xmlns:a16="http://schemas.microsoft.com/office/drawing/2014/main" id="{5C992ADA-53CB-FDC5-2768-88146B8688A1}"/>
              </a:ext>
            </a:extLst>
          </p:cNvPr>
          <p:cNvSpPr>
            <a:spLocks noGrp="1"/>
          </p:cNvSpPr>
          <p:nvPr>
            <p:ph idx="1"/>
          </p:nvPr>
        </p:nvSpPr>
        <p:spPr>
          <a:xfrm>
            <a:off x="5105398" y="1115568"/>
            <a:ext cx="6245352" cy="4626864"/>
          </a:xfrm>
        </p:spPr>
        <p:txBody>
          <a:bodyPr anchor="ctr">
            <a:normAutofit/>
          </a:bodyPr>
          <a:lstStyle/>
          <a:p>
            <a:pPr algn="just"/>
            <a:r>
              <a:rPr lang="en-US" dirty="0"/>
              <a:t>During runtime, at least two instances of the Persistence and Integration adaptors must be deployed in order to cushion the load as these may create a bottleneck.</a:t>
            </a:r>
          </a:p>
          <a:p>
            <a:pPr algn="just"/>
            <a:r>
              <a:rPr lang="en-US" dirty="0"/>
              <a:t>In the case where external systems where the required information must be pulled from, the user should get a response within the system time letting them know that the service they are requesting is currently unavailable. This can already happen via the Notification service.</a:t>
            </a:r>
          </a:p>
          <a:p>
            <a:endParaRPr lang="en-ZM" dirty="0"/>
          </a:p>
        </p:txBody>
      </p:sp>
      <p:sp>
        <p:nvSpPr>
          <p:cNvPr id="4" name="Título 1">
            <a:extLst>
              <a:ext uri="{FF2B5EF4-FFF2-40B4-BE49-F238E27FC236}">
                <a16:creationId xmlns:a16="http://schemas.microsoft.com/office/drawing/2014/main" id="{55B4E936-42A7-E2B6-44E7-90517CAA52FD}"/>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WEAKNESSES:</a:t>
            </a:r>
            <a:endParaRPr lang="es-ES" dirty="0"/>
          </a:p>
        </p:txBody>
      </p:sp>
    </p:spTree>
    <p:extLst>
      <p:ext uri="{BB962C8B-B14F-4D97-AF65-F5344CB8AC3E}">
        <p14:creationId xmlns:p14="http://schemas.microsoft.com/office/powerpoint/2010/main" val="1119246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AB557-89EB-19D9-FCA3-830624D063DE}"/>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E7EED4FF-D268-8925-BC37-72F4CA74653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479" y="1349829"/>
            <a:ext cx="12218479" cy="4898571"/>
          </a:xfrm>
        </p:spPr>
      </p:pic>
    </p:spTree>
    <p:extLst>
      <p:ext uri="{BB962C8B-B14F-4D97-AF65-F5344CB8AC3E}">
        <p14:creationId xmlns:p14="http://schemas.microsoft.com/office/powerpoint/2010/main" val="358379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AFA5E-8F30-4191-8F34-87CF623B35B9}"/>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08A0B2C6-E375-1731-9C05-A244D442BBB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0" y="0"/>
            <a:ext cx="12192000" cy="6858000"/>
          </a:xfrm>
        </p:spPr>
      </p:pic>
    </p:spTree>
    <p:extLst>
      <p:ext uri="{BB962C8B-B14F-4D97-AF65-F5344CB8AC3E}">
        <p14:creationId xmlns:p14="http://schemas.microsoft.com/office/powerpoint/2010/main" val="19699105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331E0-1B73-903F-337F-7B0D7151F904}"/>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D51AD91B-EC24-AB7E-3E59-E586AF6B4960}"/>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0" y="0"/>
            <a:ext cx="12192000" cy="6858000"/>
          </a:xfrm>
        </p:spPr>
      </p:pic>
    </p:spTree>
    <p:extLst>
      <p:ext uri="{BB962C8B-B14F-4D97-AF65-F5344CB8AC3E}">
        <p14:creationId xmlns:p14="http://schemas.microsoft.com/office/powerpoint/2010/main" val="29936540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592072"/>
          </a:xfrm>
        </p:spPr>
        <p:txBody>
          <a:bodyPr anchor="b">
            <a:normAutofit fontScale="90000"/>
          </a:bodyPr>
          <a:lstStyle/>
          <a:p>
            <a:pPr algn="l"/>
            <a:r>
              <a:rPr lang="es-ES" dirty="0"/>
              <a:t>MODIFIABILITY PROBLEM: SOLUTION</a:t>
            </a:r>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fontScale="92500"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F8B78-5510-897D-3FBC-C33FE9968D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1BB516-E111-70A3-C2A7-05E08F3AF0AF}"/>
              </a:ext>
            </a:extLst>
          </p:cNvPr>
          <p:cNvSpPr>
            <a:spLocks noGrp="1"/>
          </p:cNvSpPr>
          <p:nvPr>
            <p:ph type="title"/>
          </p:nvPr>
        </p:nvSpPr>
        <p:spPr>
          <a:xfrm>
            <a:off x="838200" y="104295"/>
            <a:ext cx="10515600" cy="1325563"/>
          </a:xfrm>
        </p:spPr>
        <p:txBody>
          <a:bodyPr/>
          <a:lstStyle/>
          <a:p>
            <a:r>
              <a:rPr lang="es-ES" dirty="0"/>
              <a:t>RELIABILITY PROBLEM</a:t>
            </a:r>
            <a:endParaRPr lang="en-US" dirty="0"/>
          </a:p>
        </p:txBody>
      </p:sp>
      <p:sp>
        <p:nvSpPr>
          <p:cNvPr id="3" name="Content Placeholder 2">
            <a:extLst>
              <a:ext uri="{FF2B5EF4-FFF2-40B4-BE49-F238E27FC236}">
                <a16:creationId xmlns:a16="http://schemas.microsoft.com/office/drawing/2014/main" id="{737E8425-A7DA-2208-91E3-96D106CB6E12}"/>
              </a:ext>
            </a:extLst>
          </p:cNvPr>
          <p:cNvSpPr>
            <a:spLocks noGrp="1"/>
          </p:cNvSpPr>
          <p:nvPr>
            <p:ph idx="1"/>
          </p:nvPr>
        </p:nvSpPr>
        <p:spPr>
          <a:xfrm>
            <a:off x="838200" y="1270527"/>
            <a:ext cx="10983686" cy="2676118"/>
          </a:xfrm>
        </p:spPr>
        <p:txBody>
          <a:bodyPr>
            <a:normAutofit/>
          </a:bodyPr>
          <a:lstStyle/>
          <a:p>
            <a:pPr marL="0" indent="0" algn="just">
              <a:buNone/>
            </a:pPr>
            <a:r>
              <a:rPr lang="en-IN" sz="1600" dirty="0">
                <a:solidFill>
                  <a:schemeClr val="tx1"/>
                </a:solidFill>
              </a:rPr>
              <a:t>During peak usage (e.g. after grade publication or before exam registration deadlines), external systems such as the </a:t>
            </a:r>
            <a:r>
              <a:rPr lang="en-IN" sz="1600" b="1" dirty="0">
                <a:solidFill>
                  <a:schemeClr val="tx1"/>
                </a:solidFill>
              </a:rPr>
              <a:t>Student Information System (SIS)</a:t>
            </a:r>
            <a:r>
              <a:rPr lang="en-IN" sz="1600" dirty="0">
                <a:solidFill>
                  <a:schemeClr val="tx1"/>
                </a:solidFill>
              </a:rPr>
              <a:t> or the </a:t>
            </a:r>
            <a:r>
              <a:rPr lang="en-IN" sz="1600" b="1" dirty="0">
                <a:solidFill>
                  <a:schemeClr val="tx1"/>
                </a:solidFill>
              </a:rPr>
              <a:t>Timetable Service</a:t>
            </a:r>
            <a:r>
              <a:rPr lang="en-IN" sz="1600" dirty="0">
                <a:solidFill>
                  <a:schemeClr val="tx1"/>
                </a:solidFill>
              </a:rPr>
              <a:t> may become temporarily unavailable or respond slowly.</a:t>
            </a:r>
            <a:br>
              <a:rPr lang="en-IN" sz="1600" dirty="0">
                <a:solidFill>
                  <a:schemeClr val="tx1"/>
                </a:solidFill>
              </a:rPr>
            </a:br>
            <a:r>
              <a:rPr lang="en-IN" sz="1600" dirty="0">
                <a:solidFill>
                  <a:schemeClr val="tx1"/>
                </a:solidFill>
              </a:rPr>
              <a:t>When this happens, core EXA functionality (registration, result viewing, or grading workflows) may fail or hang due to synchronous dependencies on these external services.</a:t>
            </a:r>
          </a:p>
          <a:p>
            <a:endParaRPr lang="en-US" sz="1600" dirty="0">
              <a:solidFill>
                <a:schemeClr val="tx1"/>
              </a:solidFill>
            </a:endParaRPr>
          </a:p>
        </p:txBody>
      </p:sp>
      <p:graphicFrame>
        <p:nvGraphicFramePr>
          <p:cNvPr id="5" name="Table 4">
            <a:extLst>
              <a:ext uri="{FF2B5EF4-FFF2-40B4-BE49-F238E27FC236}">
                <a16:creationId xmlns:a16="http://schemas.microsoft.com/office/drawing/2014/main" id="{A49937D7-AB74-7559-96AC-A2677F5E0901}"/>
              </a:ext>
            </a:extLst>
          </p:cNvPr>
          <p:cNvGraphicFramePr>
            <a:graphicFrameLocks noGrp="1"/>
          </p:cNvGraphicFramePr>
          <p:nvPr>
            <p:extLst>
              <p:ext uri="{D42A27DB-BD31-4B8C-83A1-F6EECF244321}">
                <p14:modId xmlns:p14="http://schemas.microsoft.com/office/powerpoint/2010/main" val="1804115678"/>
              </p:ext>
            </p:extLst>
          </p:nvPr>
        </p:nvGraphicFramePr>
        <p:xfrm>
          <a:off x="1135743" y="2430463"/>
          <a:ext cx="10388600" cy="4059236"/>
        </p:xfrm>
        <a:graphic>
          <a:graphicData uri="http://schemas.openxmlformats.org/drawingml/2006/table">
            <a:tbl>
              <a:tblPr/>
              <a:tblGrid>
                <a:gridCol w="2620195">
                  <a:extLst>
                    <a:ext uri="{9D8B030D-6E8A-4147-A177-3AD203B41FA5}">
                      <a16:colId xmlns:a16="http://schemas.microsoft.com/office/drawing/2014/main" val="4142023511"/>
                    </a:ext>
                  </a:extLst>
                </a:gridCol>
                <a:gridCol w="7768405">
                  <a:extLst>
                    <a:ext uri="{9D8B030D-6E8A-4147-A177-3AD203B41FA5}">
                      <a16:colId xmlns:a16="http://schemas.microsoft.com/office/drawing/2014/main" val="156645862"/>
                    </a:ext>
                  </a:extLst>
                </a:gridCol>
              </a:tblGrid>
              <a:tr h="289945">
                <a:tc>
                  <a:txBody>
                    <a:bodyPr/>
                    <a:lstStyle/>
                    <a:p>
                      <a:r>
                        <a:rPr lang="en-IN" sz="1400"/>
                        <a:t>Field</a:t>
                      </a:r>
                    </a:p>
                  </a:txBody>
                  <a:tcPr marL="72486" marR="72486" marT="36243" marB="36243" anchor="ctr">
                    <a:lnL>
                      <a:noFill/>
                    </a:lnL>
                    <a:lnR>
                      <a:noFill/>
                    </a:lnR>
                    <a:lnT>
                      <a:noFill/>
                    </a:lnT>
                    <a:lnB>
                      <a:noFill/>
                    </a:lnB>
                    <a:noFill/>
                  </a:tcPr>
                </a:tc>
                <a:tc>
                  <a:txBody>
                    <a:bodyPr/>
                    <a:lstStyle/>
                    <a:p>
                      <a:r>
                        <a:rPr lang="en-IN" sz="1400"/>
                        <a:t>Description</a:t>
                      </a:r>
                    </a:p>
                  </a:txBody>
                  <a:tcPr marL="72486" marR="72486" marT="36243" marB="36243" anchor="ctr">
                    <a:lnL>
                      <a:noFill/>
                    </a:lnL>
                    <a:lnR>
                      <a:noFill/>
                    </a:lnR>
                    <a:lnT>
                      <a:noFill/>
                    </a:lnT>
                    <a:lnB>
                      <a:noFill/>
                    </a:lnB>
                    <a:noFill/>
                  </a:tcPr>
                </a:tc>
                <a:extLst>
                  <a:ext uri="{0D108BD9-81ED-4DB2-BD59-A6C34878D82A}">
                    <a16:rowId xmlns:a16="http://schemas.microsoft.com/office/drawing/2014/main" val="3243619380"/>
                  </a:ext>
                </a:extLst>
              </a:tr>
              <a:tr h="289945">
                <a:tc>
                  <a:txBody>
                    <a:bodyPr/>
                    <a:lstStyle/>
                    <a:p>
                      <a:r>
                        <a:rPr lang="en-IN" sz="1400" b="1"/>
                        <a:t>Quality Attribute</a:t>
                      </a:r>
                      <a:endParaRPr lang="en-IN" sz="1400"/>
                    </a:p>
                  </a:txBody>
                  <a:tcPr marL="72486" marR="72486" marT="36243" marB="36243" anchor="ctr">
                    <a:lnL>
                      <a:noFill/>
                    </a:lnL>
                    <a:lnR>
                      <a:noFill/>
                    </a:lnR>
                    <a:lnT>
                      <a:noFill/>
                    </a:lnT>
                    <a:lnB>
                      <a:noFill/>
                    </a:lnB>
                    <a:noFill/>
                  </a:tcPr>
                </a:tc>
                <a:tc>
                  <a:txBody>
                    <a:bodyPr/>
                    <a:lstStyle/>
                    <a:p>
                      <a:r>
                        <a:rPr lang="en-IN" sz="1400"/>
                        <a:t>Reliability</a:t>
                      </a:r>
                    </a:p>
                  </a:txBody>
                  <a:tcPr marL="72486" marR="72486" marT="36243" marB="36243" anchor="ctr">
                    <a:lnL>
                      <a:noFill/>
                    </a:lnL>
                    <a:lnR>
                      <a:noFill/>
                    </a:lnR>
                    <a:lnT>
                      <a:noFill/>
                    </a:lnT>
                    <a:lnB>
                      <a:noFill/>
                    </a:lnB>
                    <a:noFill/>
                  </a:tcPr>
                </a:tc>
                <a:extLst>
                  <a:ext uri="{0D108BD9-81ED-4DB2-BD59-A6C34878D82A}">
                    <a16:rowId xmlns:a16="http://schemas.microsoft.com/office/drawing/2014/main" val="2088599293"/>
                  </a:ext>
                </a:extLst>
              </a:tr>
              <a:tr h="507405">
                <a:tc>
                  <a:txBody>
                    <a:bodyPr/>
                    <a:lstStyle/>
                    <a:p>
                      <a:r>
                        <a:rPr lang="en-IN" sz="1400" b="1"/>
                        <a:t>Source of Stimulus</a:t>
                      </a:r>
                      <a:endParaRPr lang="en-IN" sz="1400"/>
                    </a:p>
                  </a:txBody>
                  <a:tcPr marL="72486" marR="72486" marT="36243" marB="36243" anchor="ctr">
                    <a:lnL>
                      <a:noFill/>
                    </a:lnL>
                    <a:lnR>
                      <a:noFill/>
                    </a:lnR>
                    <a:lnT>
                      <a:noFill/>
                    </a:lnT>
                    <a:lnB>
                      <a:noFill/>
                    </a:lnB>
                    <a:noFill/>
                  </a:tcPr>
                </a:tc>
                <a:tc>
                  <a:txBody>
                    <a:bodyPr/>
                    <a:lstStyle/>
                    <a:p>
                      <a:r>
                        <a:rPr lang="en-IN" sz="1400"/>
                        <a:t>External system (Student Information System or Timetable Service)</a:t>
                      </a:r>
                    </a:p>
                  </a:txBody>
                  <a:tcPr marL="72486" marR="72486" marT="36243" marB="36243" anchor="ctr">
                    <a:lnL>
                      <a:noFill/>
                    </a:lnL>
                    <a:lnR>
                      <a:noFill/>
                    </a:lnR>
                    <a:lnT>
                      <a:noFill/>
                    </a:lnT>
                    <a:lnB>
                      <a:noFill/>
                    </a:lnB>
                    <a:noFill/>
                  </a:tcPr>
                </a:tc>
                <a:extLst>
                  <a:ext uri="{0D108BD9-81ED-4DB2-BD59-A6C34878D82A}">
                    <a16:rowId xmlns:a16="http://schemas.microsoft.com/office/drawing/2014/main" val="3800424000"/>
                  </a:ext>
                </a:extLst>
              </a:tr>
              <a:tr h="507405">
                <a:tc>
                  <a:txBody>
                    <a:bodyPr/>
                    <a:lstStyle/>
                    <a:p>
                      <a:r>
                        <a:rPr lang="en-IN" sz="1400" b="1"/>
                        <a:t>Stimulus</a:t>
                      </a:r>
                      <a:endParaRPr lang="en-IN" sz="1400"/>
                    </a:p>
                  </a:txBody>
                  <a:tcPr marL="72486" marR="72486" marT="36243" marB="36243" anchor="ctr">
                    <a:lnL>
                      <a:noFill/>
                    </a:lnL>
                    <a:lnR>
                      <a:noFill/>
                    </a:lnR>
                    <a:lnT>
                      <a:noFill/>
                    </a:lnT>
                    <a:lnB>
                      <a:noFill/>
                    </a:lnB>
                    <a:noFill/>
                  </a:tcPr>
                </a:tc>
                <a:tc>
                  <a:txBody>
                    <a:bodyPr/>
                    <a:lstStyle/>
                    <a:p>
                      <a:r>
                        <a:rPr lang="en-IN" sz="1400"/>
                        <a:t>An external system becomes unavailable or responds slowly</a:t>
                      </a:r>
                    </a:p>
                  </a:txBody>
                  <a:tcPr marL="72486" marR="72486" marT="36243" marB="36243" anchor="ctr">
                    <a:lnL>
                      <a:noFill/>
                    </a:lnL>
                    <a:lnR>
                      <a:noFill/>
                    </a:lnR>
                    <a:lnT>
                      <a:noFill/>
                    </a:lnT>
                    <a:lnB>
                      <a:noFill/>
                    </a:lnB>
                    <a:noFill/>
                  </a:tcPr>
                </a:tc>
                <a:extLst>
                  <a:ext uri="{0D108BD9-81ED-4DB2-BD59-A6C34878D82A}">
                    <a16:rowId xmlns:a16="http://schemas.microsoft.com/office/drawing/2014/main" val="1939123124"/>
                  </a:ext>
                </a:extLst>
              </a:tr>
              <a:tr h="289945">
                <a:tc>
                  <a:txBody>
                    <a:bodyPr/>
                    <a:lstStyle/>
                    <a:p>
                      <a:r>
                        <a:rPr lang="en-IN" sz="1400" b="1"/>
                        <a:t>Environment</a:t>
                      </a:r>
                      <a:endParaRPr lang="en-IN" sz="1400"/>
                    </a:p>
                  </a:txBody>
                  <a:tcPr marL="72486" marR="72486" marT="36243" marB="36243" anchor="ctr">
                    <a:lnL>
                      <a:noFill/>
                    </a:lnL>
                    <a:lnR>
                      <a:noFill/>
                    </a:lnR>
                    <a:lnT>
                      <a:noFill/>
                    </a:lnT>
                    <a:lnB>
                      <a:noFill/>
                    </a:lnB>
                    <a:noFill/>
                  </a:tcPr>
                </a:tc>
                <a:tc>
                  <a:txBody>
                    <a:bodyPr/>
                    <a:lstStyle/>
                    <a:p>
                      <a:r>
                        <a:rPr lang="en-IN" sz="1400"/>
                        <a:t>Normal operation, possibly during peak usage</a:t>
                      </a:r>
                    </a:p>
                  </a:txBody>
                  <a:tcPr marL="72486" marR="72486" marT="36243" marB="36243" anchor="ctr">
                    <a:lnL>
                      <a:noFill/>
                    </a:lnL>
                    <a:lnR>
                      <a:noFill/>
                    </a:lnR>
                    <a:lnT>
                      <a:noFill/>
                    </a:lnT>
                    <a:lnB>
                      <a:noFill/>
                    </a:lnB>
                    <a:noFill/>
                  </a:tcPr>
                </a:tc>
                <a:extLst>
                  <a:ext uri="{0D108BD9-81ED-4DB2-BD59-A6C34878D82A}">
                    <a16:rowId xmlns:a16="http://schemas.microsoft.com/office/drawing/2014/main" val="560919176"/>
                  </a:ext>
                </a:extLst>
              </a:tr>
              <a:tr h="289945">
                <a:tc>
                  <a:txBody>
                    <a:bodyPr/>
                    <a:lstStyle/>
                    <a:p>
                      <a:r>
                        <a:rPr lang="en-IN" sz="1400" b="1"/>
                        <a:t>Artifact</a:t>
                      </a:r>
                      <a:endParaRPr lang="en-IN" sz="1400"/>
                    </a:p>
                  </a:txBody>
                  <a:tcPr marL="72486" marR="72486" marT="36243" marB="36243" anchor="ctr">
                    <a:lnL>
                      <a:noFill/>
                    </a:lnL>
                    <a:lnR>
                      <a:noFill/>
                    </a:lnR>
                    <a:lnT>
                      <a:noFill/>
                    </a:lnT>
                    <a:lnB>
                      <a:noFill/>
                    </a:lnB>
                    <a:noFill/>
                  </a:tcPr>
                </a:tc>
                <a:tc>
                  <a:txBody>
                    <a:bodyPr/>
                    <a:lstStyle/>
                    <a:p>
                      <a:r>
                        <a:rPr lang="en-IN" sz="1400"/>
                        <a:t>Integration Adapter (Backend API)</a:t>
                      </a:r>
                    </a:p>
                  </a:txBody>
                  <a:tcPr marL="72486" marR="72486" marT="36243" marB="36243" anchor="ctr">
                    <a:lnL>
                      <a:noFill/>
                    </a:lnL>
                    <a:lnR>
                      <a:noFill/>
                    </a:lnR>
                    <a:lnT>
                      <a:noFill/>
                    </a:lnT>
                    <a:lnB>
                      <a:noFill/>
                    </a:lnB>
                    <a:noFill/>
                  </a:tcPr>
                </a:tc>
                <a:extLst>
                  <a:ext uri="{0D108BD9-81ED-4DB2-BD59-A6C34878D82A}">
                    <a16:rowId xmlns:a16="http://schemas.microsoft.com/office/drawing/2014/main" val="4189590913"/>
                  </a:ext>
                </a:extLst>
              </a:tr>
              <a:tr h="1159782">
                <a:tc>
                  <a:txBody>
                    <a:bodyPr/>
                    <a:lstStyle/>
                    <a:p>
                      <a:r>
                        <a:rPr lang="en-IN" sz="1400" b="1"/>
                        <a:t>Response</a:t>
                      </a:r>
                      <a:endParaRPr lang="en-IN" sz="1400"/>
                    </a:p>
                  </a:txBody>
                  <a:tcPr marL="72486" marR="72486" marT="36243" marB="36243" anchor="ctr">
                    <a:lnL>
                      <a:noFill/>
                    </a:lnL>
                    <a:lnR>
                      <a:noFill/>
                    </a:lnR>
                    <a:lnT>
                      <a:noFill/>
                    </a:lnT>
                    <a:lnB>
                      <a:noFill/>
                    </a:lnB>
                    <a:noFill/>
                  </a:tcPr>
                </a:tc>
                <a:tc>
                  <a:txBody>
                    <a:bodyPr/>
                    <a:lstStyle/>
                    <a:p>
                      <a:r>
                        <a:rPr lang="en-IN" sz="1400"/>
                        <a:t>The Integration Adapter detects the failure using timeouts, retries, or circuit breakers and prevents the failure from propagating to core business components. The system continues operating in a degraded but controlled mode</a:t>
                      </a:r>
                    </a:p>
                  </a:txBody>
                  <a:tcPr marL="72486" marR="72486" marT="36243" marB="36243" anchor="ctr">
                    <a:lnL>
                      <a:noFill/>
                    </a:lnL>
                    <a:lnR>
                      <a:noFill/>
                    </a:lnR>
                    <a:lnT>
                      <a:noFill/>
                    </a:lnT>
                    <a:lnB>
                      <a:noFill/>
                    </a:lnB>
                    <a:noFill/>
                  </a:tcPr>
                </a:tc>
                <a:extLst>
                  <a:ext uri="{0D108BD9-81ED-4DB2-BD59-A6C34878D82A}">
                    <a16:rowId xmlns:a16="http://schemas.microsoft.com/office/drawing/2014/main" val="1445647130"/>
                  </a:ext>
                </a:extLst>
              </a:tr>
              <a:tr h="724864">
                <a:tc>
                  <a:txBody>
                    <a:bodyPr/>
                    <a:lstStyle/>
                    <a:p>
                      <a:r>
                        <a:rPr lang="en-IN" sz="1400" b="1"/>
                        <a:t>Response Measure</a:t>
                      </a:r>
                      <a:endParaRPr lang="en-IN" sz="1400"/>
                    </a:p>
                  </a:txBody>
                  <a:tcPr marL="72486" marR="72486" marT="36243" marB="36243" anchor="ctr">
                    <a:lnL>
                      <a:noFill/>
                    </a:lnL>
                    <a:lnR>
                      <a:noFill/>
                    </a:lnR>
                    <a:lnT>
                      <a:noFill/>
                    </a:lnT>
                    <a:lnB>
                      <a:noFill/>
                    </a:lnB>
                    <a:noFill/>
                  </a:tcPr>
                </a:tc>
                <a:tc>
                  <a:txBody>
                    <a:bodyPr/>
                    <a:lstStyle/>
                    <a:p>
                      <a:r>
                        <a:rPr lang="en-IN" sz="1400" dirty="0"/>
                        <a:t>Core EXA functionality remains available and failures do not cascade beyond the Integration Adapter</a:t>
                      </a:r>
                    </a:p>
                  </a:txBody>
                  <a:tcPr marL="72486" marR="72486" marT="36243" marB="36243" anchor="ctr">
                    <a:lnL>
                      <a:noFill/>
                    </a:lnL>
                    <a:lnR>
                      <a:noFill/>
                    </a:lnR>
                    <a:lnT>
                      <a:noFill/>
                    </a:lnT>
                    <a:lnB>
                      <a:noFill/>
                    </a:lnB>
                    <a:noFill/>
                  </a:tcPr>
                </a:tc>
                <a:extLst>
                  <a:ext uri="{0D108BD9-81ED-4DB2-BD59-A6C34878D82A}">
                    <a16:rowId xmlns:a16="http://schemas.microsoft.com/office/drawing/2014/main" val="1643286551"/>
                  </a:ext>
                </a:extLst>
              </a:tr>
            </a:tbl>
          </a:graphicData>
        </a:graphic>
      </p:graphicFrame>
    </p:spTree>
    <p:extLst>
      <p:ext uri="{BB962C8B-B14F-4D97-AF65-F5344CB8AC3E}">
        <p14:creationId xmlns:p14="http://schemas.microsoft.com/office/powerpoint/2010/main" val="534078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6359A-14C5-7420-7D3C-6272E9E43856}"/>
            </a:ext>
          </a:extLst>
        </p:cNvPr>
        <p:cNvGrpSpPr/>
        <p:nvPr/>
      </p:nvGrpSpPr>
      <p:grpSpPr>
        <a:xfrm>
          <a:off x="0" y="0"/>
          <a:ext cx="0" cy="0"/>
          <a:chOff x="0" y="0"/>
          <a:chExt cx="0" cy="0"/>
        </a:xfrm>
      </p:grpSpPr>
      <p:pic>
        <p:nvPicPr>
          <p:cNvPr id="6" name="Picture 5" descr="A computer screen shot of a blue square&#10;&#10;Description automatically generated">
            <a:extLst>
              <a:ext uri="{FF2B5EF4-FFF2-40B4-BE49-F238E27FC236}">
                <a16:creationId xmlns:a16="http://schemas.microsoft.com/office/drawing/2014/main" id="{64756387-0ECD-87E3-89D6-AFB651CF3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05" y="4483809"/>
            <a:ext cx="5002624" cy="2104684"/>
          </a:xfrm>
          <a:prstGeom prst="rect">
            <a:avLst/>
          </a:prstGeom>
        </p:spPr>
      </p:pic>
      <p:pic>
        <p:nvPicPr>
          <p:cNvPr id="8" name="Picture 7" descr="A screen shot of a computer&#10;&#10;Description automatically generated">
            <a:extLst>
              <a:ext uri="{FF2B5EF4-FFF2-40B4-BE49-F238E27FC236}">
                <a16:creationId xmlns:a16="http://schemas.microsoft.com/office/drawing/2014/main" id="{7731F945-049D-3EE4-2A14-C58B6E8F6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005" y="2597228"/>
            <a:ext cx="5002624" cy="1663543"/>
          </a:xfrm>
          <a:prstGeom prst="rect">
            <a:avLst/>
          </a:prstGeom>
        </p:spPr>
      </p:pic>
      <p:pic>
        <p:nvPicPr>
          <p:cNvPr id="10" name="Picture 9" descr="A diagram of a computer&#10;&#10;Description automatically generated with medium confidence">
            <a:extLst>
              <a:ext uri="{FF2B5EF4-FFF2-40B4-BE49-F238E27FC236}">
                <a16:creationId xmlns:a16="http://schemas.microsoft.com/office/drawing/2014/main" id="{DDF59564-2438-153C-A486-73C9E01ACE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005" y="206707"/>
            <a:ext cx="5002624" cy="2197414"/>
          </a:xfrm>
          <a:prstGeom prst="rect">
            <a:avLst/>
          </a:prstGeom>
        </p:spPr>
      </p:pic>
      <p:pic>
        <p:nvPicPr>
          <p:cNvPr id="13" name="Picture 12" descr="A diagram of information on a black background&#10;&#10;Description automatically generated">
            <a:extLst>
              <a:ext uri="{FF2B5EF4-FFF2-40B4-BE49-F238E27FC236}">
                <a16:creationId xmlns:a16="http://schemas.microsoft.com/office/drawing/2014/main" id="{C61C75C9-A944-A64E-B956-B63FAF320A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94825" y="576882"/>
            <a:ext cx="6589170" cy="5704236"/>
          </a:xfrm>
          <a:prstGeom prst="rect">
            <a:avLst/>
          </a:prstGeom>
        </p:spPr>
      </p:pic>
    </p:spTree>
    <p:extLst>
      <p:ext uri="{BB962C8B-B14F-4D97-AF65-F5344CB8AC3E}">
        <p14:creationId xmlns:p14="http://schemas.microsoft.com/office/powerpoint/2010/main" val="31308571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a:xfrm>
            <a:off x="-1791305" y="450104"/>
            <a:ext cx="10353762" cy="970450"/>
          </a:xfrm>
        </p:spPr>
        <p:txBody>
          <a:bodyPr>
            <a:normAutofit/>
          </a:bodyPr>
          <a:lstStyle/>
          <a:p>
            <a:r>
              <a:rPr lang="en-US" sz="3200" dirty="0"/>
              <a:t>SCALABILITY PROBLEM</a:t>
            </a:r>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380680"/>
            <a:ext cx="7226300" cy="1192299"/>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p:txBody>
      </p:sp>
      <p:pic>
        <p:nvPicPr>
          <p:cNvPr id="4" name="Picture 3">
            <a:extLst>
              <a:ext uri="{FF2B5EF4-FFF2-40B4-BE49-F238E27FC236}">
                <a16:creationId xmlns:a16="http://schemas.microsoft.com/office/drawing/2014/main" id="{E37E8AB3-C565-EBB4-D07A-9E8F74AEB62D}"/>
              </a:ext>
            </a:extLst>
          </p:cNvPr>
          <p:cNvPicPr>
            <a:picLocks noChangeAspect="1"/>
          </p:cNvPicPr>
          <p:nvPr/>
        </p:nvPicPr>
        <p:blipFill>
          <a:blip r:embed="rId2"/>
          <a:stretch>
            <a:fillRect/>
          </a:stretch>
        </p:blipFill>
        <p:spPr>
          <a:xfrm>
            <a:off x="8153400" y="365126"/>
            <a:ext cx="3755570" cy="2207853"/>
          </a:xfrm>
          <a:prstGeom prst="rect">
            <a:avLst/>
          </a:prstGeom>
        </p:spPr>
      </p:pic>
      <p:pic>
        <p:nvPicPr>
          <p:cNvPr id="5" name="Picture 4">
            <a:extLst>
              <a:ext uri="{FF2B5EF4-FFF2-40B4-BE49-F238E27FC236}">
                <a16:creationId xmlns:a16="http://schemas.microsoft.com/office/drawing/2014/main" id="{001737CF-8176-6A2B-F7DD-BFACAF39465B}"/>
              </a:ext>
            </a:extLst>
          </p:cNvPr>
          <p:cNvPicPr>
            <a:picLocks noChangeAspect="1"/>
          </p:cNvPicPr>
          <p:nvPr/>
        </p:nvPicPr>
        <p:blipFill>
          <a:blip r:embed="rId3"/>
          <a:stretch>
            <a:fillRect/>
          </a:stretch>
        </p:blipFill>
        <p:spPr>
          <a:xfrm>
            <a:off x="8153400" y="2728726"/>
            <a:ext cx="3755570" cy="1922494"/>
          </a:xfrm>
          <a:prstGeom prst="rect">
            <a:avLst/>
          </a:prstGeom>
        </p:spPr>
      </p:pic>
      <p:graphicFrame>
        <p:nvGraphicFramePr>
          <p:cNvPr id="6" name="Table 5">
            <a:extLst>
              <a:ext uri="{FF2B5EF4-FFF2-40B4-BE49-F238E27FC236}">
                <a16:creationId xmlns:a16="http://schemas.microsoft.com/office/drawing/2014/main" id="{9AC26A06-43AB-6CAC-411E-02ACD94B8D69}"/>
              </a:ext>
            </a:extLst>
          </p:cNvPr>
          <p:cNvGraphicFramePr>
            <a:graphicFrameLocks noGrp="1"/>
          </p:cNvGraphicFramePr>
          <p:nvPr>
            <p:extLst>
              <p:ext uri="{D42A27DB-BD31-4B8C-83A1-F6EECF244321}">
                <p14:modId xmlns:p14="http://schemas.microsoft.com/office/powerpoint/2010/main" val="887941306"/>
              </p:ext>
            </p:extLst>
          </p:nvPr>
        </p:nvGraphicFramePr>
        <p:xfrm>
          <a:off x="838200" y="2728726"/>
          <a:ext cx="8207572" cy="4059236"/>
        </p:xfrm>
        <a:graphic>
          <a:graphicData uri="http://schemas.openxmlformats.org/drawingml/2006/table">
            <a:tbl>
              <a:tblPr/>
              <a:tblGrid>
                <a:gridCol w="1957486">
                  <a:extLst>
                    <a:ext uri="{9D8B030D-6E8A-4147-A177-3AD203B41FA5}">
                      <a16:colId xmlns:a16="http://schemas.microsoft.com/office/drawing/2014/main" val="3441313519"/>
                    </a:ext>
                  </a:extLst>
                </a:gridCol>
                <a:gridCol w="6250086">
                  <a:extLst>
                    <a:ext uri="{9D8B030D-6E8A-4147-A177-3AD203B41FA5}">
                      <a16:colId xmlns:a16="http://schemas.microsoft.com/office/drawing/2014/main" val="3408472008"/>
                    </a:ext>
                  </a:extLst>
                </a:gridCol>
              </a:tblGrid>
              <a:tr h="289945">
                <a:tc>
                  <a:txBody>
                    <a:bodyPr/>
                    <a:lstStyle/>
                    <a:p>
                      <a:r>
                        <a:rPr lang="en-IN" sz="1400"/>
                        <a:t>Field</a:t>
                      </a:r>
                    </a:p>
                  </a:txBody>
                  <a:tcPr marL="72486" marR="72486" marT="36243" marB="36243" anchor="ctr">
                    <a:lnL>
                      <a:noFill/>
                    </a:lnL>
                    <a:lnR>
                      <a:noFill/>
                    </a:lnR>
                    <a:lnT>
                      <a:noFill/>
                    </a:lnT>
                    <a:lnB>
                      <a:noFill/>
                    </a:lnB>
                    <a:noFill/>
                  </a:tcPr>
                </a:tc>
                <a:tc>
                  <a:txBody>
                    <a:bodyPr/>
                    <a:lstStyle/>
                    <a:p>
                      <a:r>
                        <a:rPr lang="en-IN" sz="1400" dirty="0"/>
                        <a:t>Description</a:t>
                      </a:r>
                    </a:p>
                  </a:txBody>
                  <a:tcPr marL="72486" marR="72486" marT="36243" marB="36243" anchor="ctr">
                    <a:lnL>
                      <a:noFill/>
                    </a:lnL>
                    <a:lnR>
                      <a:noFill/>
                    </a:lnR>
                    <a:lnT>
                      <a:noFill/>
                    </a:lnT>
                    <a:lnB>
                      <a:noFill/>
                    </a:lnB>
                    <a:noFill/>
                  </a:tcPr>
                </a:tc>
                <a:extLst>
                  <a:ext uri="{0D108BD9-81ED-4DB2-BD59-A6C34878D82A}">
                    <a16:rowId xmlns:a16="http://schemas.microsoft.com/office/drawing/2014/main" val="1541138862"/>
                  </a:ext>
                </a:extLst>
              </a:tr>
              <a:tr h="289945">
                <a:tc>
                  <a:txBody>
                    <a:bodyPr/>
                    <a:lstStyle/>
                    <a:p>
                      <a:r>
                        <a:rPr lang="en-IN" sz="1400" b="1"/>
                        <a:t>Quality Attribute</a:t>
                      </a:r>
                      <a:endParaRPr lang="en-IN" sz="1400"/>
                    </a:p>
                  </a:txBody>
                  <a:tcPr marL="72486" marR="72486" marT="36243" marB="36243" anchor="ctr">
                    <a:lnL>
                      <a:noFill/>
                    </a:lnL>
                    <a:lnR>
                      <a:noFill/>
                    </a:lnR>
                    <a:lnT>
                      <a:noFill/>
                    </a:lnT>
                    <a:lnB>
                      <a:noFill/>
                    </a:lnB>
                    <a:noFill/>
                  </a:tcPr>
                </a:tc>
                <a:tc>
                  <a:txBody>
                    <a:bodyPr/>
                    <a:lstStyle/>
                    <a:p>
                      <a:r>
                        <a:rPr lang="en-IN" sz="1400"/>
                        <a:t>Scalability</a:t>
                      </a:r>
                    </a:p>
                  </a:txBody>
                  <a:tcPr marL="72486" marR="72486" marT="36243" marB="36243" anchor="ctr">
                    <a:lnL>
                      <a:noFill/>
                    </a:lnL>
                    <a:lnR>
                      <a:noFill/>
                    </a:lnR>
                    <a:lnT>
                      <a:noFill/>
                    </a:lnT>
                    <a:lnB>
                      <a:noFill/>
                    </a:lnB>
                    <a:noFill/>
                  </a:tcPr>
                </a:tc>
                <a:extLst>
                  <a:ext uri="{0D108BD9-81ED-4DB2-BD59-A6C34878D82A}">
                    <a16:rowId xmlns:a16="http://schemas.microsoft.com/office/drawing/2014/main" val="3424056702"/>
                  </a:ext>
                </a:extLst>
              </a:tr>
              <a:tr h="289945">
                <a:tc>
                  <a:txBody>
                    <a:bodyPr/>
                    <a:lstStyle/>
                    <a:p>
                      <a:r>
                        <a:rPr lang="en-IN" sz="1400" b="1"/>
                        <a:t>Source of Stimulus</a:t>
                      </a:r>
                      <a:endParaRPr lang="en-IN" sz="1400"/>
                    </a:p>
                  </a:txBody>
                  <a:tcPr marL="72486" marR="72486" marT="36243" marB="36243" anchor="ctr">
                    <a:lnL>
                      <a:noFill/>
                    </a:lnL>
                    <a:lnR>
                      <a:noFill/>
                    </a:lnR>
                    <a:lnT>
                      <a:noFill/>
                    </a:lnT>
                    <a:lnB>
                      <a:noFill/>
                    </a:lnB>
                    <a:noFill/>
                  </a:tcPr>
                </a:tc>
                <a:tc>
                  <a:txBody>
                    <a:bodyPr/>
                    <a:lstStyle/>
                    <a:p>
                      <a:r>
                        <a:rPr lang="en-IN" sz="1400"/>
                        <a:t>Students</a:t>
                      </a:r>
                    </a:p>
                  </a:txBody>
                  <a:tcPr marL="72486" marR="72486" marT="36243" marB="36243" anchor="ctr">
                    <a:lnL>
                      <a:noFill/>
                    </a:lnL>
                    <a:lnR>
                      <a:noFill/>
                    </a:lnR>
                    <a:lnT>
                      <a:noFill/>
                    </a:lnT>
                    <a:lnB>
                      <a:noFill/>
                    </a:lnB>
                    <a:noFill/>
                  </a:tcPr>
                </a:tc>
                <a:extLst>
                  <a:ext uri="{0D108BD9-81ED-4DB2-BD59-A6C34878D82A}">
                    <a16:rowId xmlns:a16="http://schemas.microsoft.com/office/drawing/2014/main" val="2175101912"/>
                  </a:ext>
                </a:extLst>
              </a:tr>
              <a:tr h="507405">
                <a:tc>
                  <a:txBody>
                    <a:bodyPr/>
                    <a:lstStyle/>
                    <a:p>
                      <a:r>
                        <a:rPr lang="en-IN" sz="1400" b="1"/>
                        <a:t>Stimulus</a:t>
                      </a:r>
                      <a:endParaRPr lang="en-IN" sz="1400"/>
                    </a:p>
                  </a:txBody>
                  <a:tcPr marL="72486" marR="72486" marT="36243" marB="36243" anchor="ctr">
                    <a:lnL>
                      <a:noFill/>
                    </a:lnL>
                    <a:lnR>
                      <a:noFill/>
                    </a:lnR>
                    <a:lnT>
                      <a:noFill/>
                    </a:lnT>
                    <a:lnB>
                      <a:noFill/>
                    </a:lnB>
                    <a:noFill/>
                  </a:tcPr>
                </a:tc>
                <a:tc>
                  <a:txBody>
                    <a:bodyPr/>
                    <a:lstStyle/>
                    <a:p>
                      <a:r>
                        <a:rPr lang="en-IN" sz="1400"/>
                        <a:t>A large number of concurrent requests arrive at the system</a:t>
                      </a:r>
                    </a:p>
                  </a:txBody>
                  <a:tcPr marL="72486" marR="72486" marT="36243" marB="36243" anchor="ctr">
                    <a:lnL>
                      <a:noFill/>
                    </a:lnL>
                    <a:lnR>
                      <a:noFill/>
                    </a:lnR>
                    <a:lnT>
                      <a:noFill/>
                    </a:lnT>
                    <a:lnB>
                      <a:noFill/>
                    </a:lnB>
                    <a:noFill/>
                  </a:tcPr>
                </a:tc>
                <a:extLst>
                  <a:ext uri="{0D108BD9-81ED-4DB2-BD59-A6C34878D82A}">
                    <a16:rowId xmlns:a16="http://schemas.microsoft.com/office/drawing/2014/main" val="1508562039"/>
                  </a:ext>
                </a:extLst>
              </a:tr>
              <a:tr h="289945">
                <a:tc>
                  <a:txBody>
                    <a:bodyPr/>
                    <a:lstStyle/>
                    <a:p>
                      <a:r>
                        <a:rPr lang="en-IN" sz="1400" b="1"/>
                        <a:t>Environment</a:t>
                      </a:r>
                      <a:endParaRPr lang="en-IN" sz="1400"/>
                    </a:p>
                  </a:txBody>
                  <a:tcPr marL="72486" marR="72486" marT="36243" marB="36243" anchor="ctr">
                    <a:lnL>
                      <a:noFill/>
                    </a:lnL>
                    <a:lnR>
                      <a:noFill/>
                    </a:lnR>
                    <a:lnT>
                      <a:noFill/>
                    </a:lnT>
                    <a:lnB>
                      <a:noFill/>
                    </a:lnB>
                    <a:noFill/>
                  </a:tcPr>
                </a:tc>
                <a:tc>
                  <a:txBody>
                    <a:bodyPr/>
                    <a:lstStyle/>
                    <a:p>
                      <a:r>
                        <a:rPr lang="en-IN" sz="1400"/>
                        <a:t>Peak usage periods (e.g. exam registration opening)</a:t>
                      </a:r>
                    </a:p>
                  </a:txBody>
                  <a:tcPr marL="72486" marR="72486" marT="36243" marB="36243" anchor="ctr">
                    <a:lnL>
                      <a:noFill/>
                    </a:lnL>
                    <a:lnR>
                      <a:noFill/>
                    </a:lnR>
                    <a:lnT>
                      <a:noFill/>
                    </a:lnT>
                    <a:lnB>
                      <a:noFill/>
                    </a:lnB>
                    <a:noFill/>
                  </a:tcPr>
                </a:tc>
                <a:extLst>
                  <a:ext uri="{0D108BD9-81ED-4DB2-BD59-A6C34878D82A}">
                    <a16:rowId xmlns:a16="http://schemas.microsoft.com/office/drawing/2014/main" val="1453488838"/>
                  </a:ext>
                </a:extLst>
              </a:tr>
              <a:tr h="507405">
                <a:tc>
                  <a:txBody>
                    <a:bodyPr/>
                    <a:lstStyle/>
                    <a:p>
                      <a:r>
                        <a:rPr lang="en-IN" sz="1400" b="1"/>
                        <a:t>Artifact</a:t>
                      </a:r>
                      <a:endParaRPr lang="en-IN" sz="1400"/>
                    </a:p>
                  </a:txBody>
                  <a:tcPr marL="72486" marR="72486" marT="36243" marB="36243" anchor="ctr">
                    <a:lnL>
                      <a:noFill/>
                    </a:lnL>
                    <a:lnR>
                      <a:noFill/>
                    </a:lnR>
                    <a:lnT>
                      <a:noFill/>
                    </a:lnT>
                    <a:lnB>
                      <a:noFill/>
                    </a:lnB>
                    <a:noFill/>
                  </a:tcPr>
                </a:tc>
                <a:tc>
                  <a:txBody>
                    <a:bodyPr/>
                    <a:lstStyle/>
                    <a:p>
                      <a:r>
                        <a:rPr lang="en-IN" sz="1400"/>
                        <a:t>Backend API container, especially Registration Management</a:t>
                      </a:r>
                    </a:p>
                  </a:txBody>
                  <a:tcPr marL="72486" marR="72486" marT="36243" marB="36243" anchor="ctr">
                    <a:lnL>
                      <a:noFill/>
                    </a:lnL>
                    <a:lnR>
                      <a:noFill/>
                    </a:lnR>
                    <a:lnT>
                      <a:noFill/>
                    </a:lnT>
                    <a:lnB>
                      <a:noFill/>
                    </a:lnB>
                    <a:noFill/>
                  </a:tcPr>
                </a:tc>
                <a:extLst>
                  <a:ext uri="{0D108BD9-81ED-4DB2-BD59-A6C34878D82A}">
                    <a16:rowId xmlns:a16="http://schemas.microsoft.com/office/drawing/2014/main" val="1347179215"/>
                  </a:ext>
                </a:extLst>
              </a:tr>
              <a:tr h="1159782">
                <a:tc>
                  <a:txBody>
                    <a:bodyPr/>
                    <a:lstStyle/>
                    <a:p>
                      <a:r>
                        <a:rPr lang="en-IN" sz="1400" b="1"/>
                        <a:t>Response</a:t>
                      </a:r>
                      <a:endParaRPr lang="en-IN" sz="1400"/>
                    </a:p>
                  </a:txBody>
                  <a:tcPr marL="72486" marR="72486" marT="36243" marB="36243" anchor="ctr">
                    <a:lnL>
                      <a:noFill/>
                    </a:lnL>
                    <a:lnR>
                      <a:noFill/>
                    </a:lnR>
                    <a:lnT>
                      <a:noFill/>
                    </a:lnT>
                    <a:lnB>
                      <a:noFill/>
                    </a:lnB>
                    <a:noFill/>
                  </a:tcPr>
                </a:tc>
                <a:tc>
                  <a:txBody>
                    <a:bodyPr/>
                    <a:lstStyle/>
                    <a:p>
                      <a:r>
                        <a:rPr lang="en-IN" sz="1400" dirty="0"/>
                        <a:t>The Backend API scales horizontally by running multiple stateless instances behind a load balancer. Requests are distributed across instances and database access is optimized using connection pooling</a:t>
                      </a:r>
                    </a:p>
                  </a:txBody>
                  <a:tcPr marL="72486" marR="72486" marT="36243" marB="36243" anchor="ctr">
                    <a:lnL>
                      <a:noFill/>
                    </a:lnL>
                    <a:lnR>
                      <a:noFill/>
                    </a:lnR>
                    <a:lnT>
                      <a:noFill/>
                    </a:lnT>
                    <a:lnB>
                      <a:noFill/>
                    </a:lnB>
                    <a:noFill/>
                  </a:tcPr>
                </a:tc>
                <a:extLst>
                  <a:ext uri="{0D108BD9-81ED-4DB2-BD59-A6C34878D82A}">
                    <a16:rowId xmlns:a16="http://schemas.microsoft.com/office/drawing/2014/main" val="272562500"/>
                  </a:ext>
                </a:extLst>
              </a:tr>
              <a:tr h="724864">
                <a:tc>
                  <a:txBody>
                    <a:bodyPr/>
                    <a:lstStyle/>
                    <a:p>
                      <a:r>
                        <a:rPr lang="en-IN" sz="1400" b="1"/>
                        <a:t>Response Measure</a:t>
                      </a:r>
                      <a:endParaRPr lang="en-IN" sz="1400"/>
                    </a:p>
                  </a:txBody>
                  <a:tcPr marL="72486" marR="72486" marT="36243" marB="36243" anchor="ctr">
                    <a:lnL>
                      <a:noFill/>
                    </a:lnL>
                    <a:lnR>
                      <a:noFill/>
                    </a:lnR>
                    <a:lnT>
                      <a:noFill/>
                    </a:lnT>
                    <a:lnB>
                      <a:noFill/>
                    </a:lnB>
                    <a:noFill/>
                  </a:tcPr>
                </a:tc>
                <a:tc>
                  <a:txBody>
                    <a:bodyPr/>
                    <a:lstStyle/>
                    <a:p>
                      <a:r>
                        <a:rPr lang="en-IN" sz="1400" dirty="0"/>
                        <a:t>The system handles large bursts of concurrent requests without request failures or unacceptable response-time degradation</a:t>
                      </a:r>
                    </a:p>
                  </a:txBody>
                  <a:tcPr marL="72486" marR="72486" marT="36243" marB="36243" anchor="ctr">
                    <a:lnL>
                      <a:noFill/>
                    </a:lnL>
                    <a:lnR>
                      <a:noFill/>
                    </a:lnR>
                    <a:lnT>
                      <a:noFill/>
                    </a:lnT>
                    <a:lnB>
                      <a:noFill/>
                    </a:lnB>
                    <a:noFill/>
                  </a:tcPr>
                </a:tc>
                <a:extLst>
                  <a:ext uri="{0D108BD9-81ED-4DB2-BD59-A6C34878D82A}">
                    <a16:rowId xmlns:a16="http://schemas.microsoft.com/office/drawing/2014/main" val="1136433596"/>
                  </a:ext>
                </a:extLst>
              </a:tr>
            </a:tbl>
          </a:graphicData>
        </a:graphic>
      </p:graphicFrame>
    </p:spTree>
    <p:extLst>
      <p:ext uri="{BB962C8B-B14F-4D97-AF65-F5344CB8AC3E}">
        <p14:creationId xmlns:p14="http://schemas.microsoft.com/office/powerpoint/2010/main" val="42075998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pic>
        <p:nvPicPr>
          <p:cNvPr id="4" name="Picture 3">
            <a:extLst>
              <a:ext uri="{FF2B5EF4-FFF2-40B4-BE49-F238E27FC236}">
                <a16:creationId xmlns:a16="http://schemas.microsoft.com/office/drawing/2014/main" id="{0A82EF55-1F5E-91C9-E445-35B2ED7EC62C}"/>
              </a:ext>
            </a:extLst>
          </p:cNvPr>
          <p:cNvPicPr>
            <a:picLocks noChangeAspect="1"/>
          </p:cNvPicPr>
          <p:nvPr/>
        </p:nvPicPr>
        <p:blipFill>
          <a:blip r:embed="rId2"/>
          <a:stretch>
            <a:fillRect/>
          </a:stretch>
        </p:blipFill>
        <p:spPr>
          <a:xfrm>
            <a:off x="7821386" y="1576301"/>
            <a:ext cx="3985984" cy="2627927"/>
          </a:xfrm>
          <a:prstGeom prst="rect">
            <a:avLst/>
          </a:prstGeom>
        </p:spPr>
      </p:pic>
    </p:spTree>
    <p:extLst>
      <p:ext uri="{BB962C8B-B14F-4D97-AF65-F5344CB8AC3E}">
        <p14:creationId xmlns:p14="http://schemas.microsoft.com/office/powerpoint/2010/main" val="35822873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p:txBody>
          <a:bodyPr/>
          <a:lstStyle/>
          <a:p>
            <a:r>
              <a:rPr lang="en-001" dirty="0"/>
              <a:t>SECURITY </a:t>
            </a:r>
            <a:r>
              <a:rPr lang="en-US" dirty="0"/>
              <a:t>PROBLEM</a:t>
            </a:r>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838200" y="1576301"/>
            <a:ext cx="5822092" cy="4916574"/>
          </a:xfrm>
        </p:spPr>
        <p:txBody>
          <a:bodyPr>
            <a:normAutofit fontScale="92500" lnSpcReduction="10000"/>
          </a:bodyPr>
          <a:lstStyle/>
          <a:p>
            <a:pPr marL="0" indent="0">
              <a:buNone/>
            </a:pPr>
            <a:r>
              <a:rPr lang="en-US" sz="2400" dirty="0"/>
              <a:t>An attacker sends a grade edit request to Grading Management component.</a:t>
            </a:r>
            <a:endParaRPr lang="en-001" sz="2400" dirty="0"/>
          </a:p>
          <a:p>
            <a:pPr marL="0" indent="0">
              <a:buNone/>
            </a:pPr>
            <a:endParaRPr lang="en-001" sz="2400" dirty="0"/>
          </a:p>
          <a:p>
            <a:pPr marL="0" indent="0">
              <a:buNone/>
            </a:pPr>
            <a:r>
              <a:rPr lang="en-001" sz="3200" dirty="0"/>
              <a:t>Solution:</a:t>
            </a:r>
          </a:p>
          <a:p>
            <a:pPr marL="0" indent="0">
              <a:buNone/>
            </a:pPr>
            <a:endParaRPr lang="en-001" sz="2400" dirty="0"/>
          </a:p>
          <a:p>
            <a:pPr marL="0" indent="0">
              <a:buNone/>
            </a:pPr>
            <a:r>
              <a:rPr lang="en-US" sz="2400" dirty="0"/>
              <a:t>The request is detected, an attacker is not recognized as a teacher, notification is sent (or the grades data is restored).</a:t>
            </a:r>
            <a:endParaRPr lang="en-001" sz="2400" dirty="0"/>
          </a:p>
          <a:p>
            <a:pPr marL="0" indent="0">
              <a:buNone/>
            </a:pPr>
            <a:endParaRPr lang="en-001" sz="2400" dirty="0"/>
          </a:p>
          <a:p>
            <a:pPr marL="0" indent="0">
              <a:buNone/>
            </a:pPr>
            <a:endParaRPr lang="en-001" sz="2400" dirty="0"/>
          </a:p>
          <a:p>
            <a:pPr marL="0" indent="0">
              <a:buNone/>
            </a:pPr>
            <a:r>
              <a:rPr lang="en-001" sz="2400" dirty="0"/>
              <a:t>The current architecture does not require an update.</a:t>
            </a:r>
          </a:p>
        </p:txBody>
      </p:sp>
    </p:spTree>
    <p:extLst>
      <p:ext uri="{BB962C8B-B14F-4D97-AF65-F5344CB8AC3E}">
        <p14:creationId xmlns:p14="http://schemas.microsoft.com/office/powerpoint/2010/main" val="97607016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826F61"/>
      </a:accent1>
      <a:accent2>
        <a:srgbClr val="A19C7F"/>
      </a:accent2>
      <a:accent3>
        <a:srgbClr val="9AA489"/>
      </a:accent3>
      <a:accent4>
        <a:srgbClr val="7C938B"/>
      </a:accent4>
      <a:accent5>
        <a:srgbClr val="7C7D92"/>
      </a:accent5>
      <a:accent6>
        <a:srgbClr val="897376"/>
      </a:accent6>
      <a:hlink>
        <a:srgbClr val="D29B73"/>
      </a:hlink>
      <a:folHlink>
        <a:srgbClr val="F4C5A4"/>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FF747C5C-A8E8-4833-9E55-3D08FE4E48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1664</TotalTime>
  <Words>1418</Words>
  <Application>Microsoft Office PowerPoint</Application>
  <PresentationFormat>Panorámica</PresentationFormat>
  <Paragraphs>137</Paragraphs>
  <Slides>22</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22</vt:i4>
      </vt:variant>
    </vt:vector>
  </HeadingPairs>
  <TitlesOfParts>
    <vt:vector size="27" baseType="lpstr">
      <vt:lpstr>Aptos</vt:lpstr>
      <vt:lpstr>Arial</vt:lpstr>
      <vt:lpstr>Calisto MT</vt:lpstr>
      <vt:lpstr>Wingdings 2</vt:lpstr>
      <vt:lpstr>Slate</vt:lpstr>
      <vt:lpstr>ARCHITECTURAL EVALUATION: EXAMS MODULE 1 </vt:lpstr>
      <vt:lpstr>SECURITY PROBLEM (Valentyn)</vt:lpstr>
      <vt:lpstr>Presentación de PowerPoint</vt:lpstr>
      <vt:lpstr>AVALABILITY PROBLEM: Requirements</vt:lpstr>
      <vt:lpstr>AVAILABILITY PROBLEM: Solution</vt:lpstr>
      <vt:lpstr>MODIFIABILITY PROBLEM: Requirements</vt:lpstr>
      <vt:lpstr>MODIFIABILITY PROBLEM: Solution</vt:lpstr>
      <vt:lpstr>REQUIREMENT: TESTABILITY</vt:lpstr>
      <vt:lpstr>1. Easy unit deployment: </vt:lpstr>
      <vt:lpstr>a</vt:lpstr>
      <vt:lpstr>REQUIREMENT: PERFORMANCE</vt:lpstr>
      <vt:lpstr>1. Integration and Persistence bottlenecks: </vt:lpstr>
      <vt:lpstr>Presentación de PowerPoint</vt:lpstr>
      <vt:lpstr>Presentación de PowerPoint</vt:lpstr>
      <vt:lpstr>Presentación de PowerPoint</vt:lpstr>
      <vt:lpstr>MODIFIABILITY PROBLEM: SOLUTION</vt:lpstr>
      <vt:lpstr>RELIABILITY PROBLEM</vt:lpstr>
      <vt:lpstr>Presentación de PowerPoint</vt:lpstr>
      <vt:lpstr>RELIABILITY PROBLEM - SOLUTION</vt:lpstr>
      <vt:lpstr>SCALABILITY PROBLEM</vt:lpstr>
      <vt:lpstr>SCALABILITY PROBLEM - SOLUTION</vt:lpstr>
      <vt:lpstr>SECURITY PROBLEM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Iker Joaquín</cp:lastModifiedBy>
  <cp:revision>13</cp:revision>
  <dcterms:created xsi:type="dcterms:W3CDTF">2026-01-02T13:06:19Z</dcterms:created>
  <dcterms:modified xsi:type="dcterms:W3CDTF">2026-01-07T19:41:31Z</dcterms:modified>
</cp:coreProperties>
</file>